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6858000" cx="9144000"/>
  <p:notesSz cx="6858000" cy="9144000"/>
  <p:embeddedFontLst>
    <p:embeddedFont>
      <p:font typeface="Roboto"/>
      <p:regular r:id="rId25"/>
      <p:bold r:id="rId26"/>
      <p:italic r:id="rId27"/>
      <p:boldItalic r:id="rId28"/>
    </p:embeddedFont>
    <p:embeddedFont>
      <p:font typeface="Open Sans ExtraBold"/>
      <p:bold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1" roundtripDataSignature="AMtx7mjz++ykIk9HnYRbu1Fk8J58ijozG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4397B7E-6E7A-4E87-9579-E94998437B77}">
  <a:tblStyle styleId="{74397B7E-6E7A-4E87-9579-E94998437B7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OpenSansExtraBold-bold.fntdata"/><Relationship Id="rId7" Type="http://schemas.openxmlformats.org/officeDocument/2006/relationships/slide" Target="slides/slide1.xml"/><Relationship Id="rId8" Type="http://schemas.openxmlformats.org/officeDocument/2006/relationships/slide" Target="slides/slide2.xml"/><Relationship Id="rId31" Type="http://customschemas.google.com/relationships/presentationmetadata" Target="metadata"/><Relationship Id="rId30" Type="http://schemas.openxmlformats.org/officeDocument/2006/relationships/font" Target="fonts/OpenSansExtraBold-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 name="Google Shape;103;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 name="Google Shape;117;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 name="Google Shape;124;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 name="Google Shape;138;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df93b90f86_0_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df93b90f86_0_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g2df93b90f86_0_1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 name="Google Shape;152;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 name="Google Shape;173;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df93b90f86_2_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df93b90f86_2_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g2df93b90f86_2_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df93b90f86_2_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df93b90f86_2_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g2df93b90f86_2_1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 name="Google Shape;194;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8" name="Google Shape;208;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5" name="Google Shape;215;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19"/>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1"/>
              </a:buClr>
              <a:buSzPts val="4400"/>
              <a:buFont typeface="Calibri"/>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9"/>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lvl1pPr indent="-381000" lvl="0" marL="457200" algn="l">
              <a:lnSpc>
                <a:spcPct val="114000"/>
              </a:lnSpc>
              <a:spcBef>
                <a:spcPts val="480"/>
              </a:spcBef>
              <a:spcAft>
                <a:spcPts val="0"/>
              </a:spcAft>
              <a:buClr>
                <a:schemeClr val="dk1"/>
              </a:buClr>
              <a:buSzPts val="2400"/>
              <a:buFont typeface="Noto Sans Symbols"/>
              <a:buChar char="▪"/>
              <a:defRPr sz="2400">
                <a:latin typeface="Calibri"/>
                <a:ea typeface="Calibri"/>
                <a:cs typeface="Calibri"/>
                <a:sym typeface="Calibri"/>
              </a:defRPr>
            </a:lvl1pPr>
            <a:lvl2pPr indent="-355600" lvl="1" marL="914400" algn="l">
              <a:lnSpc>
                <a:spcPct val="114000"/>
              </a:lnSpc>
              <a:spcBef>
                <a:spcPts val="400"/>
              </a:spcBef>
              <a:spcAft>
                <a:spcPts val="0"/>
              </a:spcAft>
              <a:buClr>
                <a:schemeClr val="dk1"/>
              </a:buClr>
              <a:buSzPts val="2000"/>
              <a:buFont typeface="Arial"/>
              <a:buChar char="•"/>
              <a:defRPr sz="2000">
                <a:latin typeface="Calibri"/>
                <a:ea typeface="Calibri"/>
                <a:cs typeface="Calibri"/>
                <a:sym typeface="Calibri"/>
              </a:defRPr>
            </a:lvl2pPr>
            <a:lvl3pPr indent="-342900" lvl="2" marL="1371600" algn="l">
              <a:lnSpc>
                <a:spcPct val="114000"/>
              </a:lnSpc>
              <a:spcBef>
                <a:spcPts val="360"/>
              </a:spcBef>
              <a:spcAft>
                <a:spcPts val="0"/>
              </a:spcAft>
              <a:buClr>
                <a:schemeClr val="dk1"/>
              </a:buClr>
              <a:buSzPts val="1800"/>
              <a:buChar char="•"/>
              <a:defRPr sz="1800">
                <a:latin typeface="Calibri"/>
                <a:ea typeface="Calibri"/>
                <a:cs typeface="Calibri"/>
                <a:sym typeface="Calibri"/>
              </a:defRPr>
            </a:lvl3pPr>
            <a:lvl4pPr indent="-330200" lvl="3" marL="1828800" algn="l">
              <a:lnSpc>
                <a:spcPct val="114000"/>
              </a:lnSpc>
              <a:spcBef>
                <a:spcPts val="320"/>
              </a:spcBef>
              <a:spcAft>
                <a:spcPts val="0"/>
              </a:spcAft>
              <a:buClr>
                <a:schemeClr val="dk1"/>
              </a:buClr>
              <a:buSzPts val="1600"/>
              <a:buChar char="–"/>
              <a:defRPr sz="1600">
                <a:latin typeface="Calibri"/>
                <a:ea typeface="Calibri"/>
                <a:cs typeface="Calibri"/>
                <a:sym typeface="Calibri"/>
              </a:defRPr>
            </a:lvl4pPr>
            <a:lvl5pPr indent="-330200" lvl="4" marL="2286000" algn="l">
              <a:lnSpc>
                <a:spcPct val="114000"/>
              </a:lnSpc>
              <a:spcBef>
                <a:spcPts val="320"/>
              </a:spcBef>
              <a:spcAft>
                <a:spcPts val="0"/>
              </a:spcAft>
              <a:buClr>
                <a:schemeClr val="dk1"/>
              </a:buClr>
              <a:buSzPts val="1600"/>
              <a:buChar char="»"/>
              <a:defRPr sz="1600">
                <a:latin typeface="Calibri"/>
                <a:ea typeface="Calibri"/>
                <a:cs typeface="Calibri"/>
                <a:sym typeface="Calibri"/>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 name="Google Shape;22;p19"/>
          <p:cNvSpPr/>
          <p:nvPr/>
        </p:nvSpPr>
        <p:spPr>
          <a:xfrm>
            <a:off x="0" y="6477000"/>
            <a:ext cx="4572000" cy="381000"/>
          </a:xfrm>
          <a:prstGeom prst="rect">
            <a:avLst/>
          </a:prstGeom>
          <a:solidFill>
            <a:srgbClr val="34495E"/>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Calibri"/>
                <a:ea typeface="Calibri"/>
                <a:cs typeface="Calibri"/>
                <a:sym typeface="Calibri"/>
              </a:rPr>
              <a:t>Department of Computer Science and Engineering</a:t>
            </a:r>
            <a:endParaRPr b="0" i="0" sz="1600" u="none" cap="none" strike="noStrike">
              <a:solidFill>
                <a:srgbClr val="FFFFFF"/>
              </a:solidFill>
              <a:latin typeface="Calibri"/>
              <a:ea typeface="Calibri"/>
              <a:cs typeface="Calibri"/>
              <a:sym typeface="Calibri"/>
            </a:endParaRPr>
          </a:p>
        </p:txBody>
      </p:sp>
      <p:cxnSp>
        <p:nvCxnSpPr>
          <p:cNvPr id="23" name="Google Shape;23;p19"/>
          <p:cNvCxnSpPr/>
          <p:nvPr/>
        </p:nvCxnSpPr>
        <p:spPr>
          <a:xfrm>
            <a:off x="190500" y="914400"/>
            <a:ext cx="8763000" cy="0"/>
          </a:xfrm>
          <a:prstGeom prst="straightConnector1">
            <a:avLst/>
          </a:prstGeom>
          <a:noFill/>
          <a:ln cap="flat" cmpd="sng" w="9525">
            <a:solidFill>
              <a:srgbClr val="D8D8D8"/>
            </a:solidFill>
            <a:prstDash val="solid"/>
            <a:round/>
            <a:headEnd len="sm" w="sm" type="none"/>
            <a:tailEnd len="sm" w="sm" type="none"/>
          </a:ln>
        </p:spPr>
      </p:cxnSp>
      <p:sp>
        <p:nvSpPr>
          <p:cNvPr id="24" name="Google Shape;24;p19"/>
          <p:cNvSpPr/>
          <p:nvPr/>
        </p:nvSpPr>
        <p:spPr>
          <a:xfrm>
            <a:off x="4572000" y="6477490"/>
            <a:ext cx="4572000" cy="381000"/>
          </a:xfrm>
          <a:prstGeom prst="rect">
            <a:avLst/>
          </a:prstGeom>
          <a:solidFill>
            <a:srgbClr val="34495E"/>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Calibri"/>
                <a:ea typeface="Calibri"/>
                <a:cs typeface="Calibri"/>
                <a:sym typeface="Calibri"/>
              </a:rPr>
              <a:t>Rajalakshmi Engineering College 		</a:t>
            </a:r>
            <a:fld id="{00000000-1234-1234-1234-123412341234}" type="slidenum">
              <a:rPr b="0" i="0" lang="en-US" sz="1600" u="none" cap="none" strike="noStrike">
                <a:solidFill>
                  <a:srgbClr val="FFFFFF"/>
                </a:solidFill>
                <a:latin typeface="Calibri"/>
                <a:ea typeface="Calibri"/>
                <a:cs typeface="Calibri"/>
                <a:sym typeface="Calibri"/>
              </a:rPr>
              <a:t>‹#›</a:t>
            </a:fld>
            <a:endParaRPr b="0" i="0" sz="16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2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Open Sans ExtraBold"/>
              <a:buNone/>
              <a:defRPr>
                <a:latin typeface="Open Sans ExtraBold"/>
                <a:ea typeface="Open Sans ExtraBold"/>
                <a:cs typeface="Open Sans ExtraBold"/>
                <a:sym typeface="Open Sans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8" name="Google Shape;2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2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2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2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2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6"/>
          <p:cNvSpPr/>
          <p:nvPr>
            <p:ph idx="2" type="pic"/>
          </p:nvPr>
        </p:nvSpPr>
        <p:spPr>
          <a:xfrm>
            <a:off x="1792288" y="612775"/>
            <a:ext cx="5486400" cy="4114800"/>
          </a:xfrm>
          <a:prstGeom prst="rect">
            <a:avLst/>
          </a:prstGeom>
          <a:noFill/>
          <a:ln>
            <a:noFill/>
          </a:ln>
        </p:spPr>
      </p:sp>
      <p:sp>
        <p:nvSpPr>
          <p:cNvPr id="68" name="Google Shape;68;p2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www.youtube.com/redirect?event=video_description&amp;redir_token=QUFFLUhqbTEyYUpfX3RCQ3NhU1lEZFZIRHlqUVVDWnpsQXxBQ3Jtc0ttZ2d1LWg1cXFBc29Mb2wyZFlVUk1hVmNId3k5V0k1cDZtbDAzdm1mNWR5cTBLSUpvNGlyMVhYUlR0cVMyenVqSHY4dXVuQW12QUV6Snc2bzg4RTM4TWV4VUdDY0xDRHVETUxJbTRfM0VOUlhkd3NwZw&amp;q=https%3A%2F%2Fbit.ly%2F41RMh1o&amp;v=YC4kIGQYld4" TargetMode="External"/><Relationship Id="rId4" Type="http://schemas.openxmlformats.org/officeDocument/2006/relationships/hyperlink" Target="https://www.youtube.com/redirect?event=video_description&amp;redir_token=QUFFLUhqa3JWS1F6RHI0MUpseWJyRWk4ZXYzdXNXZmRfd3xBQ3Jtc0trdll4MkJnQ1FKXzAxQVFjSlhqZmtxTXVxYS1ZQkIxSEZRcjAtckdlUHRsWVJpWF9JX1U4Q2xXYVFnYnY5TXJPRU44T05pdGFfTXhCeUFRYWNsR2tSWThfQnVqQTItSEpNeGl4WGxsUG1GMXFvTWFPaw&amp;q=https%3A%2F%2Fbit.ly%2F3DUibAt&amp;v=YC4kIGQYld4" TargetMode="External"/><Relationship Id="rId5" Type="http://schemas.openxmlformats.org/officeDocument/2006/relationships/hyperlink" Target="https://www.youtube.com/redirect?event=video_description&amp;redir_token=QUFFLUhqbHdfVGRWTWp2MEtqZFFxc2hURmxvUUhhQnBfUXxBQ3Jtc0trd3JRclBaeEpnRTlMa21iblFLVmhpclpkUzN0Y0ZaQXI2anpLSl9kU0dhemVMRFdvbktzWDRXVGdMSURiaTVGUERiZ25DMExuLV9mT0JKYVRhelQ1UnJJYVJIWWpBUEt2YjdGRFpzcHVONWxDT3g3MA&amp;q=https%3A%2F%2Fbit.ly%2F3QwHhwY&amp;v=YC4kIGQYld4" TargetMode="External"/><Relationship Id="rId6" Type="http://schemas.openxmlformats.org/officeDocument/2006/relationships/hyperlink" Target="https://www.youtube.com/redirect?event=video_description&amp;redir_token=QUFFLUhqbHMwMHlURkVvT0pUUFl6QVhUNkdXa0lneC1Xd3xBQ3Jtc0tuaHplZmd3WlFEQUNrUGN0bUhKOVI3b0FicjJ6ZjBkSkxQclY0dWQwSU03NFJnVS1HcWN6Y1dZdFZfUjV1VnlYMG9YWmRBVnZpbE1KSnZzRjVEdEM3SWNXYlhabjBKLWVqQ25mS3dBY09WLXlGLXFnaw&amp;q=https%3A%2F%2Fbit.ly%2F3o6GJSC&amp;v=YC4kIGQYld4" TargetMode="External"/><Relationship Id="rId7" Type="http://schemas.openxmlformats.org/officeDocument/2006/relationships/hyperlink" Target="https://www.youtube.com/redirect?event=video_description&amp;redir_token=QUFFLUhqa2RUaXZKc3NIVEM2UGl0dUg5Z01jZURDS3Rzd3xBQ3Jtc0ttYzRWNnBDZXREVUdGSkdCdUtUZHU1azRBVHpzWElhUnNEU1VSR1Z2cHlyckwtUDdOMnotZGhodUZJM3ExeFh5UXVWV09LY3lWbHBWT1F5RlVIbWNzTHZfQ0RtdU5VUUJ3akNoNWF1UWdtd203VGY2Zw&amp;q=https%3A%2F%2Fbit.ly%2F43V7gSR&amp;v=YC4kIGQYld4"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
          <p:cNvPicPr preferRelativeResize="0"/>
          <p:nvPr/>
        </p:nvPicPr>
        <p:blipFill rotWithShape="1">
          <a:blip r:embed="rId3">
            <a:alphaModFix/>
          </a:blip>
          <a:srcRect b="-30897" l="-776" r="776" t="63278"/>
          <a:stretch/>
        </p:blipFill>
        <p:spPr>
          <a:xfrm>
            <a:off x="-72010" y="-2532"/>
            <a:ext cx="9216010" cy="3231811"/>
          </a:xfrm>
          <a:prstGeom prst="rect">
            <a:avLst/>
          </a:prstGeom>
          <a:noFill/>
          <a:ln>
            <a:noFill/>
          </a:ln>
        </p:spPr>
      </p:pic>
      <p:grpSp>
        <p:nvGrpSpPr>
          <p:cNvPr id="89" name="Google Shape;89;p1"/>
          <p:cNvGrpSpPr/>
          <p:nvPr/>
        </p:nvGrpSpPr>
        <p:grpSpPr>
          <a:xfrm>
            <a:off x="-14748" y="986564"/>
            <a:ext cx="9158748" cy="5148940"/>
            <a:chOff x="-14748" y="986564"/>
            <a:chExt cx="9158748" cy="5148940"/>
          </a:xfrm>
        </p:grpSpPr>
        <p:sp>
          <p:nvSpPr>
            <p:cNvPr id="90" name="Google Shape;90;p1"/>
            <p:cNvSpPr txBox="1"/>
            <p:nvPr/>
          </p:nvSpPr>
          <p:spPr>
            <a:xfrm>
              <a:off x="177781" y="4812105"/>
              <a:ext cx="4322209" cy="13233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Calibri"/>
                  <a:ea typeface="Calibri"/>
                  <a:cs typeface="Calibri"/>
                  <a:sym typeface="Calibri"/>
                </a:rPr>
                <a:t>Team Members:</a:t>
              </a:r>
              <a:br>
                <a:rPr b="1" i="0" lang="en-US" sz="2000" u="none" cap="none" strike="noStrike">
                  <a:solidFill>
                    <a:schemeClr val="dk1"/>
                  </a:solidFill>
                  <a:latin typeface="Calibri"/>
                  <a:ea typeface="Calibri"/>
                  <a:cs typeface="Calibri"/>
                  <a:sym typeface="Calibri"/>
                </a:rPr>
              </a:br>
              <a:r>
                <a:rPr b="1" i="0" lang="en-US" sz="2000" u="none" cap="none" strike="noStrike">
                  <a:solidFill>
                    <a:schemeClr val="dk1"/>
                  </a:solidFill>
                  <a:latin typeface="Calibri"/>
                  <a:ea typeface="Calibri"/>
                  <a:cs typeface="Calibri"/>
                  <a:sym typeface="Calibri"/>
                </a:rPr>
                <a:t>1. YASHVANTH  NG (210701319)</a:t>
              </a:r>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Calibri"/>
                  <a:ea typeface="Calibri"/>
                  <a:cs typeface="Calibri"/>
                  <a:sym typeface="Calibri"/>
                </a:rPr>
                <a:t>2. VISHAL D (210701313)</a:t>
              </a:r>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Calibri"/>
                  <a:ea typeface="Calibri"/>
                  <a:cs typeface="Calibri"/>
                  <a:sym typeface="Calibri"/>
                </a:rPr>
                <a:t>3. VIMAL K B (210701309) </a:t>
              </a:r>
              <a:endParaRPr/>
            </a:p>
          </p:txBody>
        </p:sp>
        <p:grpSp>
          <p:nvGrpSpPr>
            <p:cNvPr id="91" name="Google Shape;91;p1"/>
            <p:cNvGrpSpPr/>
            <p:nvPr/>
          </p:nvGrpSpPr>
          <p:grpSpPr>
            <a:xfrm>
              <a:off x="-14748" y="986564"/>
              <a:ext cx="9158748" cy="3628907"/>
              <a:chOff x="-14748" y="986564"/>
              <a:chExt cx="9158748" cy="3628907"/>
            </a:xfrm>
          </p:grpSpPr>
          <p:sp>
            <p:nvSpPr>
              <p:cNvPr id="92" name="Google Shape;92;p1"/>
              <p:cNvSpPr/>
              <p:nvPr/>
            </p:nvSpPr>
            <p:spPr>
              <a:xfrm>
                <a:off x="5003203" y="1761199"/>
                <a:ext cx="4140797" cy="2622445"/>
              </a:xfrm>
              <a:custGeom>
                <a:rect b="b" l="l" r="r" t="t"/>
                <a:pathLst>
                  <a:path extrusionOk="0" h="2622445" w="4140797">
                    <a:moveTo>
                      <a:pt x="1" y="0"/>
                    </a:moveTo>
                    <a:lnTo>
                      <a:pt x="4140797" y="0"/>
                    </a:lnTo>
                    <a:lnTo>
                      <a:pt x="4140797" y="2622445"/>
                    </a:lnTo>
                    <a:lnTo>
                      <a:pt x="0" y="2622445"/>
                    </a:lnTo>
                    <a:lnTo>
                      <a:pt x="1311223" y="1311222"/>
                    </a:lnTo>
                    <a:lnTo>
                      <a:pt x="1" y="0"/>
                    </a:lnTo>
                    <a:close/>
                  </a:path>
                </a:pathLst>
              </a:custGeom>
              <a:solidFill>
                <a:srgbClr val="00AAA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3" name="Google Shape;93;p1"/>
              <p:cNvSpPr/>
              <p:nvPr/>
            </p:nvSpPr>
            <p:spPr>
              <a:xfrm>
                <a:off x="0" y="1529371"/>
                <a:ext cx="5744100" cy="3086100"/>
              </a:xfrm>
              <a:prstGeom prst="homePlate">
                <a:avLst>
                  <a:gd fmla="val 50000" name="adj"/>
                </a:avLst>
              </a:prstGeom>
              <a:solidFill>
                <a:srgbClr val="59595B"/>
              </a:solidFill>
              <a:ln cap="flat" cmpd="sng" w="25400">
                <a:solidFill>
                  <a:srgbClr val="59595B"/>
                </a:solidFill>
                <a:prstDash val="solid"/>
                <a:round/>
                <a:headEnd len="sm" w="sm" type="none"/>
                <a:tailEnd len="sm" w="sm" type="none"/>
              </a:ln>
              <a:effectLst>
                <a:outerShdw blurRad="50800" rotWithShape="0" algn="l" dist="381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94" name="Google Shape;94;p1"/>
              <p:cNvGrpSpPr/>
              <p:nvPr/>
            </p:nvGrpSpPr>
            <p:grpSpPr>
              <a:xfrm>
                <a:off x="-14748" y="986564"/>
                <a:ext cx="4014973" cy="1075928"/>
                <a:chOff x="-19391" y="1011603"/>
                <a:chExt cx="5278947" cy="1075928"/>
              </a:xfrm>
            </p:grpSpPr>
            <p:sp>
              <p:nvSpPr>
                <p:cNvPr id="95" name="Google Shape;95;p1"/>
                <p:cNvSpPr/>
                <p:nvPr/>
              </p:nvSpPr>
              <p:spPr>
                <a:xfrm>
                  <a:off x="-19391" y="1011603"/>
                  <a:ext cx="5278947" cy="1075928"/>
                </a:xfrm>
                <a:prstGeom prst="homePlate">
                  <a:avLst>
                    <a:gd fmla="val 50000" name="adj"/>
                  </a:avLst>
                </a:prstGeom>
                <a:solidFill>
                  <a:srgbClr val="00AAAD"/>
                </a:solidFill>
                <a:ln>
                  <a:noFill/>
                </a:ln>
                <a:effectLst>
                  <a:outerShdw blurRad="50800" rotWithShape="0" algn="l" dist="381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6" name="Google Shape;96;p1"/>
                <p:cNvSpPr txBox="1"/>
                <p:nvPr/>
              </p:nvSpPr>
              <p:spPr>
                <a:xfrm>
                  <a:off x="237050" y="1327064"/>
                  <a:ext cx="4322700" cy="4002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Internet of Things Essentials</a:t>
                  </a:r>
                  <a:endParaRPr b="1" i="0" sz="2000" u="none" cap="none" strike="noStrike">
                    <a:solidFill>
                      <a:schemeClr val="lt1"/>
                    </a:solidFill>
                    <a:latin typeface="Calibri"/>
                    <a:ea typeface="Calibri"/>
                    <a:cs typeface="Calibri"/>
                    <a:sym typeface="Calibri"/>
                  </a:endParaRPr>
                </a:p>
              </p:txBody>
            </p:sp>
          </p:grpSp>
          <p:sp>
            <p:nvSpPr>
              <p:cNvPr id="97" name="Google Shape;97;p1"/>
              <p:cNvSpPr txBox="1"/>
              <p:nvPr/>
            </p:nvSpPr>
            <p:spPr>
              <a:xfrm>
                <a:off x="114244" y="2194978"/>
                <a:ext cx="4188300" cy="1985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lang="en-US" sz="4100">
                    <a:solidFill>
                      <a:schemeClr val="lt1"/>
                    </a:solidFill>
                    <a:latin typeface="Calibri"/>
                    <a:ea typeface="Calibri"/>
                    <a:cs typeface="Calibri"/>
                    <a:sym typeface="Calibri"/>
                  </a:rPr>
                  <a:t>DUAL AXIS SOLAR TRACKING SYSTEM</a:t>
                </a:r>
                <a:endParaRPr b="0" i="0" sz="500" u="none" cap="none" strike="noStrike">
                  <a:solidFill>
                    <a:srgbClr val="000000"/>
                  </a:solidFill>
                  <a:latin typeface="Arial"/>
                  <a:ea typeface="Arial"/>
                  <a:cs typeface="Arial"/>
                  <a:sym typeface="Arial"/>
                </a:endParaRPr>
              </a:p>
            </p:txBody>
          </p:sp>
          <p:sp>
            <p:nvSpPr>
              <p:cNvPr id="98" name="Google Shape;98;p1"/>
              <p:cNvSpPr/>
              <p:nvPr/>
            </p:nvSpPr>
            <p:spPr>
              <a:xfrm>
                <a:off x="4652237" y="1529372"/>
                <a:ext cx="1672363" cy="3086099"/>
              </a:xfrm>
              <a:custGeom>
                <a:rect b="b" l="l" r="r" t="t"/>
                <a:pathLst>
                  <a:path extrusionOk="0" h="3086099" w="1672363">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rotWithShape="0" algn="l" dist="38100">
                  <a:srgbClr val="000000">
                    <a:alpha val="2941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pic>
        <p:nvPicPr>
          <p:cNvPr id="99" name="Google Shape;99;p1"/>
          <p:cNvPicPr preferRelativeResize="0"/>
          <p:nvPr/>
        </p:nvPicPr>
        <p:blipFill rotWithShape="1">
          <a:blip r:embed="rId4">
            <a:alphaModFix/>
          </a:blip>
          <a:srcRect b="0" l="0" r="0" t="0"/>
          <a:stretch/>
        </p:blipFill>
        <p:spPr>
          <a:xfrm>
            <a:off x="6437825" y="1934150"/>
            <a:ext cx="2648175" cy="22509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lang="en-US">
                <a:latin typeface="Calibri"/>
                <a:ea typeface="Calibri"/>
                <a:cs typeface="Calibri"/>
                <a:sym typeface="Calibri"/>
              </a:rPr>
              <a:t>AGENDA</a:t>
            </a:r>
            <a:endParaRPr>
              <a:latin typeface="Calibri"/>
              <a:ea typeface="Calibri"/>
              <a:cs typeface="Calibri"/>
              <a:sym typeface="Calibri"/>
            </a:endParaRPr>
          </a:p>
        </p:txBody>
      </p:sp>
      <p:sp>
        <p:nvSpPr>
          <p:cNvPr id="106" name="Google Shape;106;p2"/>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114000"/>
              </a:lnSpc>
              <a:spcBef>
                <a:spcPts val="0"/>
              </a:spcBef>
              <a:spcAft>
                <a:spcPts val="0"/>
              </a:spcAft>
              <a:buClr>
                <a:schemeClr val="dk1"/>
              </a:buClr>
              <a:buSzPts val="2400"/>
              <a:buFont typeface="Noto Sans Symbols"/>
              <a:buChar char="⮚"/>
            </a:pPr>
            <a:r>
              <a:rPr lang="en-US">
                <a:latin typeface="Times New Roman"/>
                <a:ea typeface="Times New Roman"/>
                <a:cs typeface="Times New Roman"/>
                <a:sym typeface="Times New Roman"/>
              </a:rPr>
              <a:t> ABSTRACT</a:t>
            </a:r>
            <a:endParaRPr>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Char char="⮚"/>
            </a:pPr>
            <a:r>
              <a:rPr lang="en-US">
                <a:latin typeface="Times New Roman"/>
                <a:ea typeface="Times New Roman"/>
                <a:cs typeface="Times New Roman"/>
                <a:sym typeface="Times New Roman"/>
              </a:rPr>
              <a:t>EXISTING SYSTEM</a:t>
            </a:r>
            <a:endParaRPr>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Char char="⮚"/>
            </a:pPr>
            <a:r>
              <a:rPr lang="en-US">
                <a:latin typeface="Times New Roman"/>
                <a:ea typeface="Times New Roman"/>
                <a:cs typeface="Times New Roman"/>
                <a:sym typeface="Times New Roman"/>
              </a:rPr>
              <a:t>PROPOSED SYSTEM</a:t>
            </a:r>
            <a:endParaRPr>
              <a:latin typeface="Times New Roman"/>
              <a:ea typeface="Times New Roman"/>
              <a:cs typeface="Times New Roman"/>
              <a:sym typeface="Times New Roman"/>
            </a:endParaRPr>
          </a:p>
          <a:p>
            <a:pPr indent="-342900" lvl="0" marL="342900" rtl="0" algn="l">
              <a:lnSpc>
                <a:spcPct val="114000"/>
              </a:lnSpc>
              <a:spcBef>
                <a:spcPts val="0"/>
              </a:spcBef>
              <a:spcAft>
                <a:spcPts val="0"/>
              </a:spcAft>
              <a:buClr>
                <a:schemeClr val="dk1"/>
              </a:buClr>
              <a:buSzPts val="2400"/>
              <a:buFont typeface="Noto Sans Symbols"/>
              <a:buChar char="⮚"/>
            </a:pPr>
            <a:r>
              <a:rPr lang="en-US">
                <a:latin typeface="Times New Roman"/>
                <a:ea typeface="Times New Roman"/>
                <a:cs typeface="Times New Roman"/>
                <a:sym typeface="Times New Roman"/>
              </a:rPr>
              <a:t> OBJECTIVE</a:t>
            </a:r>
            <a:endParaRPr>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Char char="⮚"/>
            </a:pPr>
            <a:r>
              <a:rPr lang="en-US">
                <a:latin typeface="Times New Roman"/>
                <a:ea typeface="Times New Roman"/>
                <a:cs typeface="Times New Roman"/>
                <a:sym typeface="Times New Roman"/>
              </a:rPr>
              <a:t>SYSTEM ARCHITECTURE</a:t>
            </a:r>
            <a:endParaRPr>
              <a:latin typeface="Times New Roman"/>
              <a:ea typeface="Times New Roman"/>
              <a:cs typeface="Times New Roman"/>
              <a:sym typeface="Times New Roman"/>
            </a:endParaRPr>
          </a:p>
          <a:p>
            <a:pPr indent="-381000" lvl="0" marL="457200" rtl="0" algn="l">
              <a:spcBef>
                <a:spcPts val="0"/>
              </a:spcBef>
              <a:spcAft>
                <a:spcPts val="0"/>
              </a:spcAft>
              <a:buSzPts val="2400"/>
              <a:buFont typeface="Times New Roman"/>
              <a:buChar char="⮚"/>
            </a:pPr>
            <a:r>
              <a:rPr lang="en-US">
                <a:latin typeface="Times New Roman"/>
                <a:ea typeface="Times New Roman"/>
                <a:cs typeface="Times New Roman"/>
                <a:sym typeface="Times New Roman"/>
              </a:rPr>
              <a:t>SIMULATION DIAGRAM</a:t>
            </a:r>
            <a:endParaRPr>
              <a:latin typeface="Times New Roman"/>
              <a:ea typeface="Times New Roman"/>
              <a:cs typeface="Times New Roman"/>
              <a:sym typeface="Times New Roman"/>
            </a:endParaRPr>
          </a:p>
          <a:p>
            <a:pPr indent="-342900" lvl="0" marL="342900" rtl="0" algn="l">
              <a:lnSpc>
                <a:spcPct val="114000"/>
              </a:lnSpc>
              <a:spcBef>
                <a:spcPts val="0"/>
              </a:spcBef>
              <a:spcAft>
                <a:spcPts val="0"/>
              </a:spcAft>
              <a:buClr>
                <a:schemeClr val="dk1"/>
              </a:buClr>
              <a:buSzPts val="2400"/>
              <a:buFont typeface="Noto Sans Symbols"/>
              <a:buChar char="⮚"/>
            </a:pPr>
            <a:r>
              <a:rPr lang="en-US">
                <a:latin typeface="Times New Roman"/>
                <a:ea typeface="Times New Roman"/>
                <a:cs typeface="Times New Roman"/>
                <a:sym typeface="Times New Roman"/>
              </a:rPr>
              <a:t> LITERATURE SURVEY</a:t>
            </a:r>
            <a:endParaRPr/>
          </a:p>
          <a:p>
            <a:pPr indent="0" lvl="0" marL="0" rtl="0" algn="l">
              <a:lnSpc>
                <a:spcPct val="114000"/>
              </a:lnSpc>
              <a:spcBef>
                <a:spcPts val="0"/>
              </a:spcBef>
              <a:spcAft>
                <a:spcPts val="0"/>
              </a:spcAft>
              <a:buClr>
                <a:schemeClr val="dk1"/>
              </a:buClr>
              <a:buSzPts val="2400"/>
              <a:buNone/>
            </a:pPr>
            <a:r>
              <a:rPr lang="en-US">
                <a:latin typeface="Times New Roman"/>
                <a:ea typeface="Times New Roman"/>
                <a:cs typeface="Times New Roman"/>
                <a:sym typeface="Times New Roman"/>
              </a:rPr>
              <a:t>          1. KEY CHALLENGES</a:t>
            </a:r>
            <a:endParaRPr/>
          </a:p>
          <a:p>
            <a:pPr indent="0" lvl="0" marL="0" rtl="0" algn="l">
              <a:lnSpc>
                <a:spcPct val="114000"/>
              </a:lnSpc>
              <a:spcBef>
                <a:spcPts val="0"/>
              </a:spcBef>
              <a:spcAft>
                <a:spcPts val="0"/>
              </a:spcAft>
              <a:buClr>
                <a:schemeClr val="dk1"/>
              </a:buClr>
              <a:buSzPts val="2400"/>
              <a:buNone/>
            </a:pPr>
            <a:r>
              <a:rPr lang="en-US">
                <a:latin typeface="Times New Roman"/>
                <a:ea typeface="Times New Roman"/>
                <a:cs typeface="Times New Roman"/>
                <a:sym typeface="Times New Roman"/>
              </a:rPr>
              <a:t>          2. MOTIVATION</a:t>
            </a:r>
            <a:endParaRPr/>
          </a:p>
          <a:p>
            <a:pPr indent="-342900" lvl="0" marL="342900" rtl="0" algn="l">
              <a:lnSpc>
                <a:spcPct val="114000"/>
              </a:lnSpc>
              <a:spcBef>
                <a:spcPts val="0"/>
              </a:spcBef>
              <a:spcAft>
                <a:spcPts val="0"/>
              </a:spcAft>
              <a:buClr>
                <a:schemeClr val="dk1"/>
              </a:buClr>
              <a:buSzPts val="2400"/>
              <a:buFont typeface="Noto Sans Symbols"/>
              <a:buChar char="⮚"/>
            </a:pPr>
            <a:r>
              <a:rPr lang="en-US">
                <a:latin typeface="Times New Roman"/>
                <a:ea typeface="Times New Roman"/>
                <a:cs typeface="Times New Roman"/>
                <a:sym typeface="Times New Roman"/>
              </a:rPr>
              <a:t> MODULES</a:t>
            </a:r>
            <a:endParaRPr/>
          </a:p>
          <a:p>
            <a:pPr indent="-342900" lvl="0" marL="342900" rtl="0" algn="l">
              <a:lnSpc>
                <a:spcPct val="114000"/>
              </a:lnSpc>
              <a:spcBef>
                <a:spcPts val="0"/>
              </a:spcBef>
              <a:spcAft>
                <a:spcPts val="0"/>
              </a:spcAft>
              <a:buClr>
                <a:schemeClr val="dk1"/>
              </a:buClr>
              <a:buSzPts val="2400"/>
              <a:buFont typeface="Noto Sans Symbols"/>
              <a:buChar char="⮚"/>
            </a:pPr>
            <a:r>
              <a:rPr lang="en-US">
                <a:latin typeface="Times New Roman"/>
                <a:ea typeface="Times New Roman"/>
                <a:cs typeface="Times New Roman"/>
                <a:sym typeface="Times New Roman"/>
              </a:rPr>
              <a:t> CONCLUSION AND FUTURE ENHANCEMENTS</a:t>
            </a:r>
            <a:endParaRPr/>
          </a:p>
          <a:p>
            <a:pPr indent="-342900" lvl="0" marL="342900" rtl="0" algn="l">
              <a:lnSpc>
                <a:spcPct val="114000"/>
              </a:lnSpc>
              <a:spcBef>
                <a:spcPts val="0"/>
              </a:spcBef>
              <a:spcAft>
                <a:spcPts val="0"/>
              </a:spcAft>
              <a:buClr>
                <a:schemeClr val="dk1"/>
              </a:buClr>
              <a:buSzPts val="2400"/>
              <a:buFont typeface="Noto Sans Symbols"/>
              <a:buChar char="⮚"/>
            </a:pPr>
            <a:r>
              <a:rPr lang="en-US">
                <a:latin typeface="Times New Roman"/>
                <a:ea typeface="Times New Roman"/>
                <a:cs typeface="Times New Roman"/>
                <a:sym typeface="Times New Roman"/>
              </a:rPr>
              <a:t> REFERENCES</a:t>
            </a:r>
            <a:endParaRPr/>
          </a:p>
          <a:p>
            <a:pPr indent="-190500" lvl="0" marL="342900" rtl="0" algn="l">
              <a:lnSpc>
                <a:spcPct val="114000"/>
              </a:lnSpc>
              <a:spcBef>
                <a:spcPts val="0"/>
              </a:spcBef>
              <a:spcAft>
                <a:spcPts val="0"/>
              </a:spcAft>
              <a:buClr>
                <a:schemeClr val="dk1"/>
              </a:buClr>
              <a:buSzPts val="2400"/>
              <a:buFont typeface="Noto Sans Symbols"/>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
          <p:cNvSpPr txBox="1"/>
          <p:nvPr>
            <p:ph type="title"/>
          </p:nvPr>
        </p:nvSpPr>
        <p:spPr>
          <a:xfrm>
            <a:off x="190500" y="106375"/>
            <a:ext cx="8763000" cy="710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chemeClr val="dk1"/>
              </a:buClr>
              <a:buSzPct val="100000"/>
              <a:buFont typeface="Calibri"/>
              <a:buNone/>
            </a:pPr>
            <a:r>
              <a:rPr b="1" lang="en-US">
                <a:latin typeface="Times New Roman"/>
                <a:ea typeface="Times New Roman"/>
                <a:cs typeface="Times New Roman"/>
                <a:sym typeface="Times New Roman"/>
              </a:rPr>
              <a:t>ABSTRACT</a:t>
            </a:r>
            <a:endParaRPr b="1">
              <a:latin typeface="Times New Roman"/>
              <a:ea typeface="Times New Roman"/>
              <a:cs typeface="Times New Roman"/>
              <a:sym typeface="Times New Roman"/>
            </a:endParaRPr>
          </a:p>
        </p:txBody>
      </p:sp>
      <p:sp>
        <p:nvSpPr>
          <p:cNvPr id="113" name="Google Shape;113;p3"/>
          <p:cNvSpPr txBox="1"/>
          <p:nvPr>
            <p:ph idx="1" type="body"/>
          </p:nvPr>
        </p:nvSpPr>
        <p:spPr>
          <a:xfrm>
            <a:off x="190500" y="912075"/>
            <a:ext cx="8763000" cy="5334000"/>
          </a:xfrm>
          <a:prstGeom prst="rect">
            <a:avLst/>
          </a:prstGeom>
          <a:noFill/>
          <a:ln>
            <a:noFill/>
          </a:ln>
        </p:spPr>
        <p:txBody>
          <a:bodyPr anchorCtr="0" anchor="t" bIns="45700" lIns="91425" spcFirstLastPara="1" rIns="91425" wrap="square" tIns="45700">
            <a:noAutofit/>
          </a:bodyPr>
          <a:lstStyle/>
          <a:p>
            <a:pPr indent="0" lvl="0" marL="0" marR="314325" rtl="0" algn="just">
              <a:lnSpc>
                <a:spcPct val="115000"/>
              </a:lnSpc>
              <a:spcBef>
                <a:spcPts val="0"/>
              </a:spcBef>
              <a:spcAft>
                <a:spcPts val="0"/>
              </a:spcAft>
              <a:buClr>
                <a:schemeClr val="dk1"/>
              </a:buClr>
              <a:buSzPts val="1100"/>
              <a:buFont typeface="Arial"/>
              <a:buNone/>
            </a:pPr>
            <a:r>
              <a:rPr lang="en-US" sz="2100">
                <a:solidFill>
                  <a:srgbClr val="0D0D0D"/>
                </a:solidFill>
                <a:highlight>
                  <a:srgbClr val="FFFFFF"/>
                </a:highlight>
                <a:latin typeface="Times New Roman"/>
                <a:ea typeface="Times New Roman"/>
                <a:cs typeface="Times New Roman"/>
                <a:sym typeface="Times New Roman"/>
              </a:rPr>
              <a:t>         A dual axis solar tracking system utilizing Arduino technology provides an efficient and cost-effective means of maximizing solar energy absorption for photovoltaic panels or solar thermal collectors. The system employs two motors, one for horizontal (azimuth) movement and the other for vertical (elevation) adjustment, allowing the solar panel to follow the sun's trajectory across the sky for optimal energy capture.</a:t>
            </a:r>
            <a:r>
              <a:rPr lang="en-US" sz="2100">
                <a:latin typeface="Times New Roman"/>
                <a:ea typeface="Times New Roman"/>
                <a:cs typeface="Times New Roman"/>
                <a:sym typeface="Times New Roman"/>
              </a:rPr>
              <a:t> Here the analog signals are analyzed and controlled by Arduino Uno. The energy obtained from the sun is collected using a solar panels and the movement of the servo motors which moves the panel to the direction where more energy is available.</a:t>
            </a:r>
            <a:r>
              <a:rPr lang="en-US" sz="2100">
                <a:solidFill>
                  <a:srgbClr val="0D0D0D"/>
                </a:solidFill>
                <a:highlight>
                  <a:srgbClr val="FFFFFF"/>
                </a:highlight>
                <a:latin typeface="Times New Roman"/>
                <a:ea typeface="Times New Roman"/>
                <a:cs typeface="Times New Roman"/>
                <a:sym typeface="Times New Roman"/>
              </a:rPr>
              <a:t>By maintaining the panel perpendicular to the sun's rays, the system enhances energy output, improves efficiency, and can reduce overall energy costs. The implementation of such a system demonstrates the potential for smarter, more sustainable solar energy solutions.</a:t>
            </a:r>
            <a:endParaRPr sz="2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9"/>
          <p:cNvSpPr txBox="1"/>
          <p:nvPr>
            <p:ph type="title"/>
          </p:nvPr>
        </p:nvSpPr>
        <p:spPr>
          <a:xfrm>
            <a:off x="190500" y="106363"/>
            <a:ext cx="8763000" cy="8079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b="1" lang="en-US">
                <a:latin typeface="Times New Roman"/>
                <a:ea typeface="Times New Roman"/>
                <a:cs typeface="Times New Roman"/>
                <a:sym typeface="Times New Roman"/>
              </a:rPr>
              <a:t>EXISTING SYSTEM</a:t>
            </a:r>
            <a:endParaRPr b="1">
              <a:latin typeface="Times New Roman"/>
              <a:ea typeface="Times New Roman"/>
              <a:cs typeface="Times New Roman"/>
              <a:sym typeface="Times New Roman"/>
            </a:endParaRPr>
          </a:p>
        </p:txBody>
      </p:sp>
      <p:sp>
        <p:nvSpPr>
          <p:cNvPr id="120" name="Google Shape;120;p9"/>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292100" marR="431800" rtl="0" algn="just">
              <a:lnSpc>
                <a:spcPct val="115000"/>
              </a:lnSpc>
              <a:spcBef>
                <a:spcPts val="0"/>
              </a:spcBef>
              <a:spcAft>
                <a:spcPts val="0"/>
              </a:spcAft>
              <a:buClr>
                <a:schemeClr val="dk1"/>
              </a:buClr>
              <a:buSzPts val="1100"/>
              <a:buFont typeface="Arial"/>
              <a:buNone/>
            </a:pPr>
            <a:r>
              <a:rPr lang="en-US" sz="2100">
                <a:latin typeface="Times New Roman"/>
                <a:ea typeface="Times New Roman"/>
                <a:cs typeface="Times New Roman"/>
                <a:sym typeface="Times New Roman"/>
              </a:rPr>
              <a:t>       In the numerous studies Solar Tracker is used to track the sunlight for producing </a:t>
            </a:r>
            <a:r>
              <a:rPr lang="en-US" sz="2100">
                <a:latin typeface="Times New Roman"/>
                <a:ea typeface="Times New Roman"/>
                <a:cs typeface="Times New Roman"/>
                <a:sym typeface="Times New Roman"/>
              </a:rPr>
              <a:t>energy</a:t>
            </a:r>
            <a:r>
              <a:rPr lang="en-US" sz="2100">
                <a:latin typeface="Times New Roman"/>
                <a:ea typeface="Times New Roman"/>
                <a:cs typeface="Times New Roman"/>
                <a:sym typeface="Times New Roman"/>
              </a:rPr>
              <a:t> in the form of sunlight. In the paper titled “</a:t>
            </a:r>
            <a:r>
              <a:rPr b="1" lang="en-US" sz="2100">
                <a:solidFill>
                  <a:srgbClr val="222222"/>
                </a:solidFill>
                <a:highlight>
                  <a:srgbClr val="FFFFFF"/>
                </a:highlight>
                <a:latin typeface="Times New Roman"/>
                <a:ea typeface="Times New Roman"/>
                <a:cs typeface="Times New Roman"/>
                <a:sym typeface="Times New Roman"/>
              </a:rPr>
              <a:t>Single Axis Solar Tracking System Using Arduino</a:t>
            </a:r>
            <a:r>
              <a:rPr lang="en-US" sz="2100">
                <a:solidFill>
                  <a:srgbClr val="222222"/>
                </a:solidFill>
                <a:highlight>
                  <a:srgbClr val="FFFFFF"/>
                </a:highlight>
                <a:latin typeface="Times New Roman"/>
                <a:ea typeface="Times New Roman"/>
                <a:cs typeface="Times New Roman"/>
                <a:sym typeface="Times New Roman"/>
              </a:rPr>
              <a:t>” by </a:t>
            </a:r>
            <a:r>
              <a:rPr lang="en-US" sz="2100">
                <a:solidFill>
                  <a:srgbClr val="006621"/>
                </a:solidFill>
                <a:highlight>
                  <a:srgbClr val="FFFFFF"/>
                </a:highlight>
                <a:latin typeface="Times New Roman"/>
                <a:ea typeface="Times New Roman"/>
                <a:cs typeface="Times New Roman"/>
                <a:sym typeface="Times New Roman"/>
              </a:rPr>
              <a:t>A Kulkarni which is the base </a:t>
            </a:r>
            <a:r>
              <a:rPr lang="en-US" sz="2100">
                <a:solidFill>
                  <a:srgbClr val="006621"/>
                </a:solidFill>
                <a:highlight>
                  <a:srgbClr val="FFFFFF"/>
                </a:highlight>
                <a:latin typeface="Times New Roman"/>
                <a:ea typeface="Times New Roman"/>
                <a:cs typeface="Times New Roman"/>
                <a:sym typeface="Times New Roman"/>
              </a:rPr>
              <a:t>paper</a:t>
            </a:r>
            <a:r>
              <a:rPr lang="en-US" sz="2100">
                <a:solidFill>
                  <a:srgbClr val="006621"/>
                </a:solidFill>
                <a:highlight>
                  <a:srgbClr val="FFFFFF"/>
                </a:highlight>
                <a:latin typeface="Times New Roman"/>
                <a:ea typeface="Times New Roman"/>
                <a:cs typeface="Times New Roman"/>
                <a:sym typeface="Times New Roman"/>
              </a:rPr>
              <a:t> for our project. </a:t>
            </a:r>
            <a:r>
              <a:rPr lang="en-US" sz="2100">
                <a:latin typeface="Times New Roman"/>
                <a:ea typeface="Times New Roman"/>
                <a:cs typeface="Times New Roman"/>
                <a:sym typeface="Times New Roman"/>
              </a:rPr>
              <a:t>In the existing system it consists of a microcontroller, sensors, voltage regulator, driver circuit, dc geared motor, and solar panel frame axis. Here the sensors are arranged in such a way that the solar panel rotates in only one degree of freedom. When the sun travels from east to west, the sun’s highest position also changes. Hence this system is only helpful in tracking either of the axes. Therefore, the output energy is also not ideal.</a:t>
            </a:r>
            <a:endParaRPr sz="2100">
              <a:latin typeface="Times New Roman"/>
              <a:ea typeface="Times New Roman"/>
              <a:cs typeface="Times New Roman"/>
              <a:sym typeface="Times New Roman"/>
            </a:endParaRPr>
          </a:p>
          <a:p>
            <a:pPr indent="-190500" lvl="0" marL="342900" rtl="0" algn="l">
              <a:lnSpc>
                <a:spcPct val="114000"/>
              </a:lnSpc>
              <a:spcBef>
                <a:spcPts val="480"/>
              </a:spcBef>
              <a:spcAft>
                <a:spcPts val="0"/>
              </a:spcAft>
              <a:buClr>
                <a:schemeClr val="dk1"/>
              </a:buClr>
              <a:buSzPts val="2400"/>
              <a:buFont typeface="Noto Sans Symbols"/>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0"/>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b="1" lang="en-US">
                <a:latin typeface="Times New Roman"/>
                <a:ea typeface="Times New Roman"/>
                <a:cs typeface="Times New Roman"/>
                <a:sym typeface="Times New Roman"/>
              </a:rPr>
              <a:t>PROPOSED SOLUTION</a:t>
            </a:r>
            <a:endParaRPr b="1">
              <a:latin typeface="Times New Roman"/>
              <a:ea typeface="Times New Roman"/>
              <a:cs typeface="Times New Roman"/>
              <a:sym typeface="Times New Roman"/>
            </a:endParaRPr>
          </a:p>
        </p:txBody>
      </p:sp>
      <p:sp>
        <p:nvSpPr>
          <p:cNvPr id="127" name="Google Shape;127;p10"/>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177800" marR="393700" rtl="0" algn="just">
              <a:lnSpc>
                <a:spcPct val="115000"/>
              </a:lnSpc>
              <a:spcBef>
                <a:spcPts val="0"/>
              </a:spcBef>
              <a:spcAft>
                <a:spcPts val="0"/>
              </a:spcAft>
              <a:buClr>
                <a:schemeClr val="dk1"/>
              </a:buClr>
              <a:buSzPts val="1100"/>
              <a:buFont typeface="Arial"/>
              <a:buNone/>
            </a:pPr>
            <a:r>
              <a:rPr lang="en-US" sz="2133">
                <a:latin typeface="Times New Roman"/>
                <a:ea typeface="Times New Roman"/>
                <a:cs typeface="Times New Roman"/>
                <a:sym typeface="Times New Roman"/>
              </a:rPr>
              <a:t>      The Dual-axis solar tracking system that tracks the maximum sun rays using LDR sensors. This block diagram is designed according to track solar rays in both axes all day. The system includes a power supply, Arduino, two servo motors, four LDR sensors, battery, charge controller, and solar panel. This total system is designed in a form so that it tracks the sun efficiently and obtains maximum solar energy from the sun and increases the output efficiency and provides better performance even in cloudy conditions. The power supply is given to Arduino. The LCD is also powered by the Arduino. The analog information is transferred from LDRs to Arduino. According to the Arduino program, instructions are given to the servo motors and these motors eventually provide movement to the solar panel.</a:t>
            </a:r>
            <a:endParaRPr sz="2533">
              <a:latin typeface="Times New Roman"/>
              <a:ea typeface="Times New Roman"/>
              <a:cs typeface="Times New Roman"/>
              <a:sym typeface="Times New Roman"/>
            </a:endParaRPr>
          </a:p>
          <a:p>
            <a:pPr indent="-190500" lvl="0" marL="342900" rtl="0" algn="l">
              <a:lnSpc>
                <a:spcPct val="114000"/>
              </a:lnSpc>
              <a:spcBef>
                <a:spcPts val="0"/>
              </a:spcBef>
              <a:spcAft>
                <a:spcPts val="0"/>
              </a:spcAft>
              <a:buClr>
                <a:schemeClr val="dk1"/>
              </a:buClr>
              <a:buSzPts val="2400"/>
              <a:buFont typeface="Noto Sans Symbols"/>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5"/>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b="1" lang="en-US"/>
              <a:t>OBJECTIVES</a:t>
            </a:r>
            <a:endParaRPr b="1"/>
          </a:p>
        </p:txBody>
      </p:sp>
      <p:sp>
        <p:nvSpPr>
          <p:cNvPr id="134" name="Google Shape;134;p5"/>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336206" lvl="0" marL="342900" rtl="0" algn="l">
              <a:lnSpc>
                <a:spcPct val="115000"/>
              </a:lnSpc>
              <a:spcBef>
                <a:spcPts val="0"/>
              </a:spcBef>
              <a:spcAft>
                <a:spcPts val="0"/>
              </a:spcAft>
              <a:buSzPts val="2295"/>
              <a:buChar char="▪"/>
            </a:pPr>
            <a:r>
              <a:rPr b="1" i="0" lang="en-US" sz="2100">
                <a:solidFill>
                  <a:srgbClr val="0D0D0D"/>
                </a:solidFill>
                <a:highlight>
                  <a:srgbClr val="FFFFFF"/>
                </a:highlight>
                <a:latin typeface="Times New Roman"/>
                <a:ea typeface="Times New Roman"/>
                <a:cs typeface="Times New Roman"/>
                <a:sym typeface="Times New Roman"/>
              </a:rPr>
              <a:t>Maximize Solar Energy Harvesting:  </a:t>
            </a:r>
            <a:r>
              <a:rPr b="0" i="0" lang="en-US" sz="2100">
                <a:solidFill>
                  <a:srgbClr val="0D0D0D"/>
                </a:solidFill>
                <a:highlight>
                  <a:srgbClr val="FFFFFF"/>
                </a:highlight>
                <a:latin typeface="Times New Roman"/>
                <a:ea typeface="Times New Roman"/>
                <a:cs typeface="Times New Roman"/>
                <a:sym typeface="Times New Roman"/>
              </a:rPr>
              <a:t> Continuously adjust the angle and orientation of solar panels to capture maximum sunlight throughout the day, optimizing energy production.</a:t>
            </a:r>
            <a:endParaRPr b="0" i="0" sz="2100">
              <a:solidFill>
                <a:srgbClr val="0D0D0D"/>
              </a:solidFill>
              <a:highlight>
                <a:srgbClr val="FFFFFF"/>
              </a:highlight>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sz="2100">
              <a:solidFill>
                <a:srgbClr val="0D0D0D"/>
              </a:solidFill>
              <a:highlight>
                <a:srgbClr val="FFFFFF"/>
              </a:highlight>
              <a:latin typeface="Times New Roman"/>
              <a:ea typeface="Times New Roman"/>
              <a:cs typeface="Times New Roman"/>
              <a:sym typeface="Times New Roman"/>
            </a:endParaRPr>
          </a:p>
          <a:p>
            <a:pPr indent="-336206" lvl="0" marL="342900" rtl="0" algn="l">
              <a:lnSpc>
                <a:spcPct val="115000"/>
              </a:lnSpc>
              <a:spcBef>
                <a:spcPts val="0"/>
              </a:spcBef>
              <a:spcAft>
                <a:spcPts val="0"/>
              </a:spcAft>
              <a:buSzPts val="2295"/>
              <a:buChar char="▪"/>
            </a:pPr>
            <a:r>
              <a:rPr b="1" i="0" lang="en-US" sz="2100">
                <a:solidFill>
                  <a:srgbClr val="0D0D0D"/>
                </a:solidFill>
                <a:highlight>
                  <a:srgbClr val="FFFFFF"/>
                </a:highlight>
                <a:latin typeface="Times New Roman"/>
                <a:ea typeface="Times New Roman"/>
                <a:cs typeface="Times New Roman"/>
                <a:sym typeface="Times New Roman"/>
              </a:rPr>
              <a:t>Energy Efficiency:  </a:t>
            </a:r>
            <a:r>
              <a:rPr b="0" i="0" lang="en-US" sz="2100">
                <a:solidFill>
                  <a:srgbClr val="0D0D0D"/>
                </a:solidFill>
                <a:highlight>
                  <a:srgbClr val="FFFFFF"/>
                </a:highlight>
                <a:latin typeface="Times New Roman"/>
                <a:ea typeface="Times New Roman"/>
                <a:cs typeface="Times New Roman"/>
                <a:sym typeface="Times New Roman"/>
              </a:rPr>
              <a:t> Improve overall energy conversion efficiency by precisely tracking the sun’s position and adapting panel angles accordingly.</a:t>
            </a:r>
            <a:endParaRPr sz="2100"/>
          </a:p>
          <a:p>
            <a:pPr indent="0" lvl="0" marL="457200" rtl="0" algn="l">
              <a:lnSpc>
                <a:spcPct val="115000"/>
              </a:lnSpc>
              <a:spcBef>
                <a:spcPts val="0"/>
              </a:spcBef>
              <a:spcAft>
                <a:spcPts val="0"/>
              </a:spcAft>
              <a:buNone/>
            </a:pPr>
            <a:r>
              <a:t/>
            </a:r>
            <a:endParaRPr sz="2100"/>
          </a:p>
          <a:p>
            <a:pPr indent="-336206" lvl="0" marL="342900" rtl="0" algn="l">
              <a:lnSpc>
                <a:spcPct val="115000"/>
              </a:lnSpc>
              <a:spcBef>
                <a:spcPts val="0"/>
              </a:spcBef>
              <a:spcAft>
                <a:spcPts val="0"/>
              </a:spcAft>
              <a:buSzPts val="2295"/>
              <a:buChar char="▪"/>
            </a:pPr>
            <a:r>
              <a:rPr b="1" i="0" lang="en-US" sz="2100">
                <a:solidFill>
                  <a:srgbClr val="0D0D0D"/>
                </a:solidFill>
                <a:highlight>
                  <a:srgbClr val="FFFFFF"/>
                </a:highlight>
                <a:latin typeface="Times New Roman"/>
                <a:ea typeface="Times New Roman"/>
                <a:cs typeface="Times New Roman"/>
                <a:sym typeface="Times New Roman"/>
              </a:rPr>
              <a:t>Scalability: </a:t>
            </a:r>
            <a:r>
              <a:rPr b="0" i="0" lang="en-US" sz="2100">
                <a:solidFill>
                  <a:srgbClr val="0D0D0D"/>
                </a:solidFill>
                <a:highlight>
                  <a:srgbClr val="FFFFFF"/>
                </a:highlight>
                <a:latin typeface="Times New Roman"/>
                <a:ea typeface="Times New Roman"/>
                <a:cs typeface="Times New Roman"/>
                <a:sym typeface="Times New Roman"/>
              </a:rPr>
              <a:t> Design the system to be scalable and adaptable for various solar installations, from residential to commercial or industrial applications.</a:t>
            </a:r>
            <a:endParaRPr sz="2100"/>
          </a:p>
          <a:p>
            <a:pPr indent="0" lvl="0" marL="457200" rtl="0" algn="l">
              <a:lnSpc>
                <a:spcPct val="114000"/>
              </a:lnSpc>
              <a:spcBef>
                <a:spcPts val="0"/>
              </a:spcBef>
              <a:spcAft>
                <a:spcPts val="0"/>
              </a:spcAft>
              <a:buNone/>
            </a:pPr>
            <a:r>
              <a:t/>
            </a:r>
            <a:endParaRPr/>
          </a:p>
          <a:p>
            <a:pPr indent="-190500" lvl="0" marL="342900" rtl="0" algn="l">
              <a:lnSpc>
                <a:spcPct val="114000"/>
              </a:lnSpc>
              <a:spcBef>
                <a:spcPts val="0"/>
              </a:spcBef>
              <a:spcAft>
                <a:spcPts val="0"/>
              </a:spcAft>
              <a:buClr>
                <a:schemeClr val="dk1"/>
              </a:buClr>
              <a:buSzPts val="2595"/>
              <a:buFont typeface="Noto Sans Symbols"/>
              <a:buNone/>
            </a:pPr>
            <a:r>
              <a:t/>
            </a:r>
            <a:endParaRPr>
              <a:latin typeface="Times New Roman"/>
              <a:ea typeface="Times New Roman"/>
              <a:cs typeface="Times New Roman"/>
              <a:sym typeface="Times New Roman"/>
            </a:endParaRPr>
          </a:p>
          <a:p>
            <a:pPr indent="-190500" lvl="0" marL="342900" rtl="0" algn="l">
              <a:lnSpc>
                <a:spcPct val="114000"/>
              </a:lnSpc>
              <a:spcBef>
                <a:spcPts val="480"/>
              </a:spcBef>
              <a:spcAft>
                <a:spcPts val="0"/>
              </a:spcAft>
              <a:buClr>
                <a:schemeClr val="dk1"/>
              </a:buClr>
              <a:buSzPts val="2595"/>
              <a:buFont typeface="Noto Sans Symbols"/>
              <a:buNone/>
            </a:pPr>
            <a:r>
              <a:t/>
            </a:r>
            <a:endParaRPr>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2"/>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lang="en-US">
                <a:latin typeface="Calibri"/>
                <a:ea typeface="Calibri"/>
                <a:cs typeface="Calibri"/>
                <a:sym typeface="Calibri"/>
              </a:rPr>
              <a:t>SYSTEM ARCHITECTURE</a:t>
            </a:r>
            <a:endParaRPr>
              <a:latin typeface="Calibri"/>
              <a:ea typeface="Calibri"/>
              <a:cs typeface="Calibri"/>
              <a:sym typeface="Calibri"/>
            </a:endParaRPr>
          </a:p>
        </p:txBody>
      </p:sp>
      <p:pic>
        <p:nvPicPr>
          <p:cNvPr id="141" name="Google Shape;141;p12"/>
          <p:cNvPicPr preferRelativeResize="0"/>
          <p:nvPr/>
        </p:nvPicPr>
        <p:blipFill rotWithShape="1">
          <a:blip r:embed="rId3">
            <a:alphaModFix/>
          </a:blip>
          <a:srcRect b="0" l="0" r="0" t="0"/>
          <a:stretch/>
        </p:blipFill>
        <p:spPr>
          <a:xfrm>
            <a:off x="1018853" y="1127954"/>
            <a:ext cx="6811326" cy="426779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g2df93b90f86_0_13"/>
          <p:cNvSpPr txBox="1"/>
          <p:nvPr>
            <p:ph type="title"/>
          </p:nvPr>
        </p:nvSpPr>
        <p:spPr>
          <a:xfrm>
            <a:off x="385575" y="0"/>
            <a:ext cx="5935500" cy="947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SIMULATION DIAGRAM </a:t>
            </a:r>
            <a:endParaRPr/>
          </a:p>
        </p:txBody>
      </p:sp>
      <p:pic>
        <p:nvPicPr>
          <p:cNvPr id="148" name="Google Shape;148;g2df93b90f86_0_13"/>
          <p:cNvPicPr preferRelativeResize="0"/>
          <p:nvPr/>
        </p:nvPicPr>
        <p:blipFill>
          <a:blip r:embed="rId3">
            <a:alphaModFix/>
          </a:blip>
          <a:stretch>
            <a:fillRect/>
          </a:stretch>
        </p:blipFill>
        <p:spPr>
          <a:xfrm>
            <a:off x="868125" y="1222500"/>
            <a:ext cx="7748450" cy="41970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6"/>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lang="en-US">
                <a:latin typeface="Calibri"/>
                <a:ea typeface="Calibri"/>
                <a:cs typeface="Calibri"/>
                <a:sym typeface="Calibri"/>
              </a:rPr>
              <a:t>LITERATURE SURVEY</a:t>
            </a:r>
            <a:endParaRPr>
              <a:latin typeface="Calibri"/>
              <a:ea typeface="Calibri"/>
              <a:cs typeface="Calibri"/>
              <a:sym typeface="Calibri"/>
            </a:endParaRPr>
          </a:p>
        </p:txBody>
      </p:sp>
      <p:graphicFrame>
        <p:nvGraphicFramePr>
          <p:cNvPr id="155" name="Google Shape;155;p6"/>
          <p:cNvGraphicFramePr/>
          <p:nvPr/>
        </p:nvGraphicFramePr>
        <p:xfrm>
          <a:off x="487300" y="1022125"/>
          <a:ext cx="3000000" cy="3000000"/>
        </p:xfrm>
        <a:graphic>
          <a:graphicData uri="http://schemas.openxmlformats.org/drawingml/2006/table">
            <a:tbl>
              <a:tblPr>
                <a:noFill/>
                <a:tableStyleId>{74397B7E-6E7A-4E87-9579-E94998437B77}</a:tableStyleId>
              </a:tblPr>
              <a:tblGrid>
                <a:gridCol w="834325"/>
                <a:gridCol w="3145325"/>
                <a:gridCol w="2890225"/>
                <a:gridCol w="1314550"/>
              </a:tblGrid>
              <a:tr h="381000">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SL.NO</a:t>
                      </a:r>
                      <a:endParaRPr>
                        <a:latin typeface="Times New Roman"/>
                        <a:ea typeface="Times New Roman"/>
                        <a:cs typeface="Times New Roman"/>
                        <a:sym typeface="Times New Roman"/>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NAME OF THE PAPER</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AUTHOR</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latin typeface="Times New Roman"/>
                          <a:ea typeface="Times New Roman"/>
                          <a:cs typeface="Times New Roman"/>
                          <a:sym typeface="Times New Roman"/>
                        </a:rPr>
                        <a:t>YEAR</a:t>
                      </a:r>
                      <a:endParaRPr>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1.</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just">
                        <a:lnSpc>
                          <a:spcPct val="150000"/>
                        </a:lnSpc>
                        <a:spcBef>
                          <a:spcPts val="0"/>
                        </a:spcBef>
                        <a:spcAft>
                          <a:spcPts val="1560"/>
                        </a:spcAft>
                        <a:buNone/>
                      </a:pPr>
                      <a:r>
                        <a:rPr lang="en-US">
                          <a:solidFill>
                            <a:schemeClr val="dk1"/>
                          </a:solidFill>
                          <a:latin typeface="Times New Roman"/>
                          <a:ea typeface="Times New Roman"/>
                          <a:cs typeface="Times New Roman"/>
                          <a:sym typeface="Times New Roman"/>
                        </a:rPr>
                        <a:t>Single Axis Solar Tracking System Using Arduino</a:t>
                      </a:r>
                      <a:endParaRPr>
                        <a:solidFill>
                          <a:schemeClr val="dk1"/>
                        </a:solidFill>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just">
                        <a:lnSpc>
                          <a:spcPct val="150000"/>
                        </a:lnSpc>
                        <a:spcBef>
                          <a:spcPts val="0"/>
                        </a:spcBef>
                        <a:spcAft>
                          <a:spcPts val="1560"/>
                        </a:spcAft>
                        <a:buNone/>
                      </a:pPr>
                      <a:r>
                        <a:rPr lang="en-US">
                          <a:solidFill>
                            <a:schemeClr val="dk1"/>
                          </a:solidFill>
                          <a:latin typeface="Times New Roman"/>
                          <a:ea typeface="Times New Roman"/>
                          <a:cs typeface="Times New Roman"/>
                          <a:sym typeface="Times New Roman"/>
                        </a:rPr>
                        <a:t>A Kulkarn</a:t>
                      </a:r>
                      <a:endParaRPr>
                        <a:solidFill>
                          <a:schemeClr val="dk1"/>
                        </a:solidFill>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t>2021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2.</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just">
                        <a:lnSpc>
                          <a:spcPct val="150000"/>
                        </a:lnSpc>
                        <a:spcBef>
                          <a:spcPts val="0"/>
                        </a:spcBef>
                        <a:spcAft>
                          <a:spcPts val="1560"/>
                        </a:spcAft>
                        <a:buClr>
                          <a:schemeClr val="dk1"/>
                        </a:buClr>
                        <a:buSzPts val="1100"/>
                        <a:buFont typeface="Arial"/>
                        <a:buNone/>
                      </a:pPr>
                      <a:r>
                        <a:rPr lang="en-US">
                          <a:solidFill>
                            <a:schemeClr val="dk1"/>
                          </a:solidFill>
                          <a:latin typeface="Times New Roman"/>
                          <a:ea typeface="Times New Roman"/>
                          <a:cs typeface="Times New Roman"/>
                          <a:sym typeface="Times New Roman"/>
                        </a:rPr>
                        <a:t>Wind and Solar Power Systems Design, Analysis and Operations</a:t>
                      </a:r>
                      <a:endParaRPr>
                        <a:solidFill>
                          <a:schemeClr val="dk1"/>
                        </a:solidFill>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just">
                        <a:lnSpc>
                          <a:spcPct val="150000"/>
                        </a:lnSpc>
                        <a:spcBef>
                          <a:spcPts val="0"/>
                        </a:spcBef>
                        <a:spcAft>
                          <a:spcPts val="1560"/>
                        </a:spcAft>
                        <a:buClr>
                          <a:schemeClr val="dk1"/>
                        </a:buClr>
                        <a:buSzPts val="1100"/>
                        <a:buFont typeface="Arial"/>
                        <a:buNone/>
                      </a:pPr>
                      <a:r>
                        <a:rPr lang="en-US">
                          <a:solidFill>
                            <a:schemeClr val="dk1"/>
                          </a:solidFill>
                          <a:latin typeface="Times New Roman"/>
                          <a:ea typeface="Times New Roman"/>
                          <a:cs typeface="Times New Roman"/>
                          <a:sym typeface="Times New Roman"/>
                        </a:rPr>
                        <a:t>M. R. Patel</a:t>
                      </a:r>
                      <a:endParaRPr>
                        <a:solidFill>
                          <a:schemeClr val="dk1"/>
                        </a:solidFill>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a:solidFill>
                            <a:schemeClr val="dk1"/>
                          </a:solidFill>
                        </a:rPr>
                        <a:t>2019</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3.</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just">
                        <a:lnSpc>
                          <a:spcPct val="150000"/>
                        </a:lnSpc>
                        <a:spcBef>
                          <a:spcPts val="0"/>
                        </a:spcBef>
                        <a:spcAft>
                          <a:spcPts val="1560"/>
                        </a:spcAft>
                        <a:buClr>
                          <a:schemeClr val="dk1"/>
                        </a:buClr>
                        <a:buSzPts val="1100"/>
                        <a:buFont typeface="Arial"/>
                        <a:buNone/>
                      </a:pPr>
                      <a:r>
                        <a:rPr lang="en-US">
                          <a:solidFill>
                            <a:schemeClr val="dk1"/>
                          </a:solidFill>
                          <a:latin typeface="Times New Roman"/>
                          <a:ea typeface="Times New Roman"/>
                          <a:cs typeface="Times New Roman"/>
                          <a:sym typeface="Times New Roman"/>
                        </a:rPr>
                        <a:t>A Low cost single-axis sun tracking system using PIC microcontroller</a:t>
                      </a:r>
                      <a:endParaRPr>
                        <a:solidFill>
                          <a:schemeClr val="dk1"/>
                        </a:solidFill>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just">
                        <a:lnSpc>
                          <a:spcPct val="150000"/>
                        </a:lnSpc>
                        <a:spcBef>
                          <a:spcPts val="0"/>
                        </a:spcBef>
                        <a:spcAft>
                          <a:spcPts val="1560"/>
                        </a:spcAft>
                        <a:buClr>
                          <a:schemeClr val="dk1"/>
                        </a:buClr>
                        <a:buSzPts val="1100"/>
                        <a:buFont typeface="Arial"/>
                        <a:buNone/>
                      </a:pPr>
                      <a:r>
                        <a:rPr lang="en-US">
                          <a:solidFill>
                            <a:schemeClr val="dk1"/>
                          </a:solidFill>
                          <a:latin typeface="Times New Roman"/>
                          <a:ea typeface="Times New Roman"/>
                          <a:cs typeface="Times New Roman"/>
                          <a:sym typeface="Times New Roman"/>
                        </a:rPr>
                        <a:t>Kais I. Abdul-lateef,</a:t>
                      </a:r>
                      <a:endParaRPr>
                        <a:solidFill>
                          <a:schemeClr val="dk1"/>
                        </a:solidFill>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solidFill>
                            <a:schemeClr val="dk1"/>
                          </a:solidFill>
                        </a:rPr>
                        <a:t>2020</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4.</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just">
                        <a:lnSpc>
                          <a:spcPct val="15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 Enhanced energy extraction in an open loop single-axis solar tracking PV system with optimized tracker rotation about tilted axis."</a:t>
                      </a:r>
                      <a:endParaRPr>
                        <a:solidFill>
                          <a:schemeClr val="dk1"/>
                        </a:solidFill>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just">
                        <a:lnSpc>
                          <a:spcPct val="150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Khan, Rafid Adnan, Rezwanul Mahmood. M, and Anisul Haque</a:t>
                      </a:r>
                      <a:endParaRPr>
                        <a:solidFill>
                          <a:schemeClr val="dk1"/>
                        </a:solidFill>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solidFill>
                            <a:schemeClr val="dk1"/>
                          </a:solidFill>
                        </a:rPr>
                        <a:t>2018</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a:t>5.</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just">
                        <a:lnSpc>
                          <a:spcPct val="150000"/>
                        </a:lnSpc>
                        <a:spcBef>
                          <a:spcPts val="0"/>
                        </a:spcBef>
                        <a:spcAft>
                          <a:spcPts val="1200"/>
                        </a:spcAft>
                        <a:buClr>
                          <a:schemeClr val="dk1"/>
                        </a:buClr>
                        <a:buSzPts val="1100"/>
                        <a:buFont typeface="Arial"/>
                        <a:buNone/>
                      </a:pPr>
                      <a:r>
                        <a:rPr lang="en-US">
                          <a:solidFill>
                            <a:schemeClr val="dk1"/>
                          </a:solidFill>
                          <a:latin typeface="Times New Roman"/>
                          <a:ea typeface="Times New Roman"/>
                          <a:cs typeface="Times New Roman"/>
                          <a:sym typeface="Times New Roman"/>
                        </a:rPr>
                        <a:t>A novel backtracking approach for two-axis solar PV tracking plants</a:t>
                      </a:r>
                      <a:endParaRPr>
                        <a:solidFill>
                          <a:schemeClr val="dk1"/>
                        </a:solidFill>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just">
                        <a:lnSpc>
                          <a:spcPct val="150000"/>
                        </a:lnSpc>
                        <a:spcBef>
                          <a:spcPts val="0"/>
                        </a:spcBef>
                        <a:spcAft>
                          <a:spcPts val="1200"/>
                        </a:spcAft>
                        <a:buClr>
                          <a:schemeClr val="dk1"/>
                        </a:buClr>
                        <a:buSzPts val="1100"/>
                        <a:buFont typeface="Arial"/>
                        <a:buNone/>
                      </a:pPr>
                      <a:r>
                        <a:rPr lang="en-US">
                          <a:solidFill>
                            <a:schemeClr val="dk1"/>
                          </a:solidFill>
                          <a:latin typeface="Times New Roman"/>
                          <a:ea typeface="Times New Roman"/>
                          <a:cs typeface="Times New Roman"/>
                          <a:sym typeface="Times New Roman"/>
                        </a:rPr>
                        <a:t>Fernández-Ahumada, L. M, Ramírez-Faz. J, López-Luque. R, M. VaroMartínez, Moreno-García. I. M., and Casares de la Torre. F.</a:t>
                      </a:r>
                      <a:endParaRPr>
                        <a:solidFill>
                          <a:schemeClr val="dk1"/>
                        </a:solidFill>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a:solidFill>
                            <a:schemeClr val="dk1"/>
                          </a:solidFill>
                        </a:rPr>
                        <a:t>2020</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7"/>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b="1" lang="en-US">
                <a:latin typeface="Times New Roman"/>
                <a:ea typeface="Times New Roman"/>
                <a:cs typeface="Times New Roman"/>
                <a:sym typeface="Times New Roman"/>
              </a:rPr>
              <a:t>KEY CHALLENGES</a:t>
            </a:r>
            <a:endParaRPr b="1">
              <a:latin typeface="Times New Roman"/>
              <a:ea typeface="Times New Roman"/>
              <a:cs typeface="Times New Roman"/>
              <a:sym typeface="Times New Roman"/>
            </a:endParaRPr>
          </a:p>
        </p:txBody>
      </p:sp>
      <p:sp>
        <p:nvSpPr>
          <p:cNvPr id="162" name="Google Shape;162;p7"/>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361950" lvl="0" marL="457200" rtl="0" algn="l">
              <a:lnSpc>
                <a:spcPct val="115000"/>
              </a:lnSpc>
              <a:spcBef>
                <a:spcPts val="0"/>
              </a:spcBef>
              <a:spcAft>
                <a:spcPts val="0"/>
              </a:spcAft>
              <a:buClr>
                <a:srgbClr val="0D0D0D"/>
              </a:buClr>
              <a:buSzPts val="2100"/>
              <a:buFont typeface="Times New Roman"/>
              <a:buChar char="⮚"/>
            </a:pPr>
            <a:r>
              <a:rPr i="0" lang="en-US" sz="2100">
                <a:solidFill>
                  <a:srgbClr val="0D0D0D"/>
                </a:solidFill>
                <a:highlight>
                  <a:srgbClr val="FFFFFF"/>
                </a:highlight>
                <a:latin typeface="Times New Roman"/>
                <a:ea typeface="Times New Roman"/>
                <a:cs typeface="Times New Roman"/>
                <a:sym typeface="Times New Roman"/>
              </a:rPr>
              <a:t>Accurate Tracking</a:t>
            </a:r>
            <a:r>
              <a:rPr lang="en-US" sz="2100">
                <a:solidFill>
                  <a:srgbClr val="0D0D0D"/>
                </a:solidFill>
                <a:highlight>
                  <a:srgbClr val="FFFFFF"/>
                </a:highlight>
                <a:latin typeface="Times New Roman"/>
                <a:ea typeface="Times New Roman"/>
                <a:cs typeface="Times New Roman"/>
                <a:sym typeface="Times New Roman"/>
              </a:rPr>
              <a:t> </a:t>
            </a:r>
            <a:r>
              <a:rPr lang="en-US" sz="2100">
                <a:solidFill>
                  <a:srgbClr val="0D0D0D"/>
                </a:solidFill>
                <a:highlight>
                  <a:schemeClr val="lt1"/>
                </a:highlight>
                <a:latin typeface="Times New Roman"/>
                <a:ea typeface="Times New Roman"/>
                <a:cs typeface="Times New Roman"/>
                <a:sym typeface="Times New Roman"/>
              </a:rPr>
              <a:t>to capture maximum sunlight throughout the day, optimizing energy production.</a:t>
            </a:r>
            <a:endParaRPr sz="2100">
              <a:solidFill>
                <a:srgbClr val="0D0D0D"/>
              </a:solidFill>
              <a:highlight>
                <a:srgbClr val="FFFFFF"/>
              </a:highlight>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t/>
            </a:r>
            <a:endParaRPr sz="2100">
              <a:solidFill>
                <a:srgbClr val="0D0D0D"/>
              </a:solidFill>
              <a:highlight>
                <a:srgbClr val="FFFFFF"/>
              </a:highlight>
              <a:latin typeface="Times New Roman"/>
              <a:ea typeface="Times New Roman"/>
              <a:cs typeface="Times New Roman"/>
              <a:sym typeface="Times New Roman"/>
            </a:endParaRPr>
          </a:p>
          <a:p>
            <a:pPr indent="-361950" lvl="0" marL="457200" rtl="0" algn="l">
              <a:lnSpc>
                <a:spcPct val="115000"/>
              </a:lnSpc>
              <a:spcBef>
                <a:spcPts val="0"/>
              </a:spcBef>
              <a:spcAft>
                <a:spcPts val="0"/>
              </a:spcAft>
              <a:buClr>
                <a:srgbClr val="0D0D0D"/>
              </a:buClr>
              <a:buSzPts val="2100"/>
              <a:buFont typeface="Times New Roman"/>
              <a:buChar char="⮚"/>
            </a:pPr>
            <a:r>
              <a:rPr i="0" lang="en-US" sz="2100">
                <a:solidFill>
                  <a:srgbClr val="0D0D0D"/>
                </a:solidFill>
                <a:highlight>
                  <a:srgbClr val="FFFFFF"/>
                </a:highlight>
                <a:latin typeface="Times New Roman"/>
                <a:ea typeface="Times New Roman"/>
                <a:cs typeface="Times New Roman"/>
                <a:sym typeface="Times New Roman"/>
              </a:rPr>
              <a:t> Ensuring the system's moving parts and sensors remain in  good working condition for </a:t>
            </a:r>
            <a:r>
              <a:rPr lang="en-US" sz="2100">
                <a:solidFill>
                  <a:srgbClr val="0D0D0D"/>
                </a:solidFill>
                <a:highlight>
                  <a:srgbClr val="FFFFFF"/>
                </a:highlight>
                <a:latin typeface="Times New Roman"/>
                <a:ea typeface="Times New Roman"/>
                <a:cs typeface="Times New Roman"/>
                <a:sym typeface="Times New Roman"/>
              </a:rPr>
              <a:t>  </a:t>
            </a:r>
            <a:r>
              <a:rPr i="0" lang="en-US" sz="2100">
                <a:solidFill>
                  <a:srgbClr val="0D0D0D"/>
                </a:solidFill>
                <a:highlight>
                  <a:srgbClr val="FFFFFF"/>
                </a:highlight>
                <a:latin typeface="Times New Roman"/>
                <a:ea typeface="Times New Roman"/>
                <a:cs typeface="Times New Roman"/>
                <a:sym typeface="Times New Roman"/>
              </a:rPr>
              <a:t>long-term use can be complex.</a:t>
            </a:r>
            <a:endParaRPr i="0" sz="2100">
              <a:solidFill>
                <a:srgbClr val="0D0D0D"/>
              </a:solidFill>
              <a:highlight>
                <a:srgbClr val="FFFFFF"/>
              </a:highlight>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t/>
            </a:r>
            <a:endParaRPr sz="2100">
              <a:solidFill>
                <a:srgbClr val="0D0D0D"/>
              </a:solidFill>
              <a:highlight>
                <a:srgbClr val="FFFFFF"/>
              </a:highlight>
              <a:latin typeface="Times New Roman"/>
              <a:ea typeface="Times New Roman"/>
              <a:cs typeface="Times New Roman"/>
              <a:sym typeface="Times New Roman"/>
            </a:endParaRPr>
          </a:p>
          <a:p>
            <a:pPr indent="-361950" lvl="0" marL="457200" rtl="0" algn="l">
              <a:lnSpc>
                <a:spcPct val="115000"/>
              </a:lnSpc>
              <a:spcBef>
                <a:spcPts val="0"/>
              </a:spcBef>
              <a:spcAft>
                <a:spcPts val="0"/>
              </a:spcAft>
              <a:buClr>
                <a:srgbClr val="0D0D0D"/>
              </a:buClr>
              <a:buSzPts val="2100"/>
              <a:buFont typeface="Times New Roman"/>
              <a:buChar char="⮚"/>
            </a:pPr>
            <a:r>
              <a:rPr lang="en-US" sz="2100">
                <a:solidFill>
                  <a:srgbClr val="0D0D0D"/>
                </a:solidFill>
                <a:highlight>
                  <a:srgbClr val="FFFFFF"/>
                </a:highlight>
                <a:latin typeface="Times New Roman"/>
                <a:ea typeface="Times New Roman"/>
                <a:cs typeface="Times New Roman"/>
                <a:sym typeface="Times New Roman"/>
              </a:rPr>
              <a:t> </a:t>
            </a:r>
            <a:r>
              <a:rPr i="0" lang="en-US" sz="2100">
                <a:solidFill>
                  <a:srgbClr val="0D0D0D"/>
                </a:solidFill>
                <a:highlight>
                  <a:srgbClr val="FFFFFF"/>
                </a:highlight>
                <a:latin typeface="Times New Roman"/>
                <a:ea typeface="Times New Roman"/>
                <a:cs typeface="Times New Roman"/>
                <a:sym typeface="Times New Roman"/>
              </a:rPr>
              <a:t>Balancing the power consumption.</a:t>
            </a:r>
            <a:endParaRPr i="0" sz="2100">
              <a:solidFill>
                <a:srgbClr val="0D0D0D"/>
              </a:solidFill>
              <a:highlight>
                <a:srgbClr val="FFFFFF"/>
              </a:highlight>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t/>
            </a:r>
            <a:endParaRPr sz="2100">
              <a:solidFill>
                <a:srgbClr val="0D0D0D"/>
              </a:solidFill>
              <a:highlight>
                <a:srgbClr val="FFFFFF"/>
              </a:highlight>
              <a:latin typeface="Times New Roman"/>
              <a:ea typeface="Times New Roman"/>
              <a:cs typeface="Times New Roman"/>
              <a:sym typeface="Times New Roman"/>
            </a:endParaRPr>
          </a:p>
          <a:p>
            <a:pPr indent="-361950" lvl="0" marL="457200" rtl="0" algn="l">
              <a:lnSpc>
                <a:spcPct val="115000"/>
              </a:lnSpc>
              <a:spcBef>
                <a:spcPts val="0"/>
              </a:spcBef>
              <a:spcAft>
                <a:spcPts val="0"/>
              </a:spcAft>
              <a:buClr>
                <a:srgbClr val="0D0D0D"/>
              </a:buClr>
              <a:buSzPts val="2100"/>
              <a:buFont typeface="Times New Roman"/>
              <a:buChar char="⮚"/>
            </a:pPr>
            <a:r>
              <a:rPr lang="en-US" sz="2100">
                <a:solidFill>
                  <a:srgbClr val="0D0D0D"/>
                </a:solidFill>
                <a:highlight>
                  <a:srgbClr val="FFFFFF"/>
                </a:highlight>
                <a:latin typeface="Times New Roman"/>
                <a:ea typeface="Times New Roman"/>
                <a:cs typeface="Times New Roman"/>
                <a:sym typeface="Times New Roman"/>
              </a:rPr>
              <a:t> </a:t>
            </a:r>
            <a:r>
              <a:rPr i="0" lang="en-US" sz="2100">
                <a:solidFill>
                  <a:srgbClr val="0D0D0D"/>
                </a:solidFill>
                <a:highlight>
                  <a:srgbClr val="FFFFFF"/>
                </a:highlight>
                <a:latin typeface="Times New Roman"/>
                <a:ea typeface="Times New Roman"/>
                <a:cs typeface="Times New Roman"/>
                <a:sym typeface="Times New Roman"/>
              </a:rPr>
              <a:t>Protecting the system from cyber threats</a:t>
            </a:r>
            <a:r>
              <a:rPr lang="en-US" sz="2100">
                <a:solidFill>
                  <a:srgbClr val="0D0D0D"/>
                </a:solidFill>
                <a:highlight>
                  <a:srgbClr val="FFFFFF"/>
                </a:highlight>
                <a:latin typeface="Times New Roman"/>
                <a:ea typeface="Times New Roman"/>
                <a:cs typeface="Times New Roman"/>
                <a:sym typeface="Times New Roman"/>
              </a:rPr>
              <a:t>.</a:t>
            </a:r>
            <a:endParaRPr sz="2100">
              <a:solidFill>
                <a:srgbClr val="0D0D0D"/>
              </a:solidFill>
              <a:highlight>
                <a:srgbClr val="FFFFFF"/>
              </a:highlight>
              <a:latin typeface="Times New Roman"/>
              <a:ea typeface="Times New Roman"/>
              <a:cs typeface="Times New Roman"/>
              <a:sym typeface="Times New Roman"/>
            </a:endParaRPr>
          </a:p>
          <a:p>
            <a:pPr indent="0" lvl="0" marL="914400" rtl="0" algn="l">
              <a:lnSpc>
                <a:spcPct val="115000"/>
              </a:lnSpc>
              <a:spcBef>
                <a:spcPts val="0"/>
              </a:spcBef>
              <a:spcAft>
                <a:spcPts val="0"/>
              </a:spcAft>
              <a:buNone/>
            </a:pPr>
            <a:r>
              <a:t/>
            </a:r>
            <a:endParaRPr sz="2100">
              <a:solidFill>
                <a:srgbClr val="0D0D0D"/>
              </a:solidFill>
              <a:highlight>
                <a:srgbClr val="FFFFFF"/>
              </a:highlight>
              <a:latin typeface="Times New Roman"/>
              <a:ea typeface="Times New Roman"/>
              <a:cs typeface="Times New Roman"/>
              <a:sym typeface="Times New Roman"/>
            </a:endParaRPr>
          </a:p>
          <a:p>
            <a:pPr indent="-361950" lvl="0" marL="457200" rtl="0" algn="l">
              <a:lnSpc>
                <a:spcPct val="115000"/>
              </a:lnSpc>
              <a:spcBef>
                <a:spcPts val="0"/>
              </a:spcBef>
              <a:spcAft>
                <a:spcPts val="0"/>
              </a:spcAft>
              <a:buClr>
                <a:srgbClr val="0D0D0D"/>
              </a:buClr>
              <a:buSzPts val="2100"/>
              <a:buFont typeface="Times New Roman"/>
              <a:buChar char="⮚"/>
            </a:pPr>
            <a:r>
              <a:rPr lang="en-US" sz="2100">
                <a:solidFill>
                  <a:srgbClr val="0D0D0D"/>
                </a:solidFill>
                <a:highlight>
                  <a:srgbClr val="FFFFFF"/>
                </a:highlight>
                <a:latin typeface="Times New Roman"/>
                <a:ea typeface="Times New Roman"/>
                <a:cs typeface="Times New Roman"/>
                <a:sym typeface="Times New Roman"/>
              </a:rPr>
              <a:t> </a:t>
            </a:r>
            <a:r>
              <a:rPr i="0" lang="en-US" sz="2100">
                <a:solidFill>
                  <a:srgbClr val="0D0D0D"/>
                </a:solidFill>
                <a:highlight>
                  <a:srgbClr val="FFFFFF"/>
                </a:highlight>
                <a:latin typeface="Times New Roman"/>
                <a:ea typeface="Times New Roman"/>
                <a:cs typeface="Times New Roman"/>
                <a:sym typeface="Times New Roman"/>
              </a:rPr>
              <a:t>Variations in weather, such as strong winds, heavy rain, or snow, can impact the system's  performance and require robust design and protection.</a:t>
            </a:r>
            <a:endParaRPr i="0" sz="2100">
              <a:solidFill>
                <a:srgbClr val="0D0D0D"/>
              </a:solidFill>
              <a:highlight>
                <a:srgbClr val="FFFFFF"/>
              </a:highlight>
              <a:latin typeface="Times New Roman"/>
              <a:ea typeface="Times New Roman"/>
              <a:cs typeface="Times New Roman"/>
              <a:sym typeface="Times New Roman"/>
            </a:endParaRPr>
          </a:p>
          <a:p>
            <a:pPr indent="-190500" lvl="0" marL="342900" rtl="0" algn="l">
              <a:lnSpc>
                <a:spcPct val="114000"/>
              </a:lnSpc>
              <a:spcBef>
                <a:spcPts val="0"/>
              </a:spcBef>
              <a:spcAft>
                <a:spcPts val="0"/>
              </a:spcAft>
              <a:buClr>
                <a:schemeClr val="dk1"/>
              </a:buClr>
              <a:buSzPts val="2400"/>
              <a:buFont typeface="Noto Sans Symbols"/>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8"/>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b="1" lang="en-US">
                <a:latin typeface="Times New Roman"/>
                <a:ea typeface="Times New Roman"/>
                <a:cs typeface="Times New Roman"/>
                <a:sym typeface="Times New Roman"/>
              </a:rPr>
              <a:t>MOTIVATION</a:t>
            </a:r>
            <a:endParaRPr b="1">
              <a:latin typeface="Times New Roman"/>
              <a:ea typeface="Times New Roman"/>
              <a:cs typeface="Times New Roman"/>
              <a:sym typeface="Times New Roman"/>
            </a:endParaRPr>
          </a:p>
        </p:txBody>
      </p:sp>
      <p:sp>
        <p:nvSpPr>
          <p:cNvPr id="169" name="Google Shape;169;p8"/>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Autofit/>
          </a:bodyPr>
          <a:lstStyle/>
          <a:p>
            <a:pPr indent="-190500" lvl="0" marL="342900" rtl="0" algn="just">
              <a:lnSpc>
                <a:spcPct val="115000"/>
              </a:lnSpc>
              <a:spcBef>
                <a:spcPts val="0"/>
              </a:spcBef>
              <a:spcAft>
                <a:spcPts val="0"/>
              </a:spcAft>
              <a:buClr>
                <a:schemeClr val="dk1"/>
              </a:buClr>
              <a:buSzPts val="2400"/>
              <a:buFont typeface="Noto Sans Symbols"/>
              <a:buNone/>
            </a:pPr>
            <a:r>
              <a:rPr lang="en-US" sz="2100">
                <a:solidFill>
                  <a:srgbClr val="0D0D0D"/>
                </a:solidFill>
                <a:highlight>
                  <a:srgbClr val="FFFFFF"/>
                </a:highlight>
                <a:latin typeface="Times New Roman"/>
                <a:ea typeface="Times New Roman"/>
                <a:cs typeface="Times New Roman"/>
                <a:sym typeface="Times New Roman"/>
              </a:rPr>
              <a:t> </a:t>
            </a:r>
            <a:r>
              <a:rPr lang="en-US" sz="2200">
                <a:solidFill>
                  <a:srgbClr val="0D0D0D"/>
                </a:solidFill>
                <a:highlight>
                  <a:srgbClr val="FFFFFF"/>
                </a:highlight>
                <a:latin typeface="Times New Roman"/>
                <a:ea typeface="Times New Roman"/>
                <a:cs typeface="Times New Roman"/>
                <a:sym typeface="Times New Roman"/>
              </a:rPr>
              <a:t>         The project ”Dual axis solar tracking system” aims to develop an automated setup designed to optimize solar energy capture by adjusting the orientation of solar panels to follow the sun's movement across the sky. Utilizing an Arduino microcontroller, the system receives input from light-dependent resistors (LDRs) that measure sunlight intensity from different directions. Based on this data, the Arduino sends signals to two servo motors, which control the azimuth and elevation angles of the solar panels. This precise adjustment allows the panels to maintain a perpendicular position relative to the sun throughout the day, maximizing energy production. The system enhances efficiency, increases </a:t>
            </a:r>
            <a:r>
              <a:rPr lang="en-US" sz="2200">
                <a:solidFill>
                  <a:srgbClr val="0D0D0D"/>
                </a:solidFill>
                <a:highlight>
                  <a:srgbClr val="FFFFFF"/>
                </a:highlight>
                <a:latin typeface="Times New Roman"/>
                <a:ea typeface="Times New Roman"/>
                <a:cs typeface="Times New Roman"/>
                <a:sym typeface="Times New Roman"/>
              </a:rPr>
              <a:t>The </a:t>
            </a:r>
            <a:r>
              <a:rPr lang="en-US" sz="2200">
                <a:solidFill>
                  <a:srgbClr val="0D0D0D"/>
                </a:solidFill>
                <a:highlight>
                  <a:srgbClr val="FFFFFF"/>
                </a:highlight>
                <a:latin typeface="Times New Roman"/>
                <a:ea typeface="Times New Roman"/>
                <a:cs typeface="Times New Roman"/>
                <a:sym typeface="Times New Roman"/>
              </a:rPr>
              <a:t>energy yield, and reduces the need for manual intervention, providing a cost-effective and sustainable solution for solar energy harvesting.</a:t>
            </a:r>
            <a:endParaRPr sz="2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1"/>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b="1" lang="en-US">
                <a:latin typeface="Times New Roman"/>
                <a:ea typeface="Times New Roman"/>
                <a:cs typeface="Times New Roman"/>
                <a:sym typeface="Times New Roman"/>
              </a:rPr>
              <a:t>MODULES</a:t>
            </a:r>
            <a:endParaRPr b="1">
              <a:latin typeface="Times New Roman"/>
              <a:ea typeface="Times New Roman"/>
              <a:cs typeface="Times New Roman"/>
              <a:sym typeface="Times New Roman"/>
            </a:endParaRPr>
          </a:p>
        </p:txBody>
      </p:sp>
      <p:sp>
        <p:nvSpPr>
          <p:cNvPr id="176" name="Google Shape;176;p11"/>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381000" lvl="0" marL="457200" rtl="0" algn="l">
              <a:lnSpc>
                <a:spcPct val="114000"/>
              </a:lnSpc>
              <a:spcBef>
                <a:spcPts val="480"/>
              </a:spcBef>
              <a:spcAft>
                <a:spcPts val="0"/>
              </a:spcAft>
              <a:buSzPts val="2400"/>
              <a:buFont typeface="Times New Roman"/>
              <a:buChar char="▪"/>
            </a:pPr>
            <a:r>
              <a:rPr i="0" lang="en-US">
                <a:solidFill>
                  <a:srgbClr val="131313"/>
                </a:solidFill>
                <a:latin typeface="Times New Roman"/>
                <a:ea typeface="Times New Roman"/>
                <a:cs typeface="Times New Roman"/>
                <a:sym typeface="Times New Roman"/>
              </a:rPr>
              <a:t>Arduino UNO board x 1</a:t>
            </a:r>
            <a:endParaRPr i="0" u="sng" strike="noStrike">
              <a:solidFill>
                <a:srgbClr val="065FD4"/>
              </a:solidFill>
              <a:latin typeface="Times New Roman"/>
              <a:ea typeface="Times New Roman"/>
              <a:cs typeface="Times New Roman"/>
              <a:sym typeface="Times New Roman"/>
              <a:hlinkClick r:id="rId3">
                <a:extLst>
                  <a:ext uri="{A12FA001-AC4F-418D-AE19-62706E023703}">
                    <ahyp:hlinkClr val="tx"/>
                  </a:ext>
                </a:extLst>
              </a:hlinkClick>
            </a:endParaRPr>
          </a:p>
          <a:p>
            <a:pPr indent="-381000" lvl="0" marL="457200" rtl="0" algn="l">
              <a:lnSpc>
                <a:spcPct val="114000"/>
              </a:lnSpc>
              <a:spcBef>
                <a:spcPts val="480"/>
              </a:spcBef>
              <a:spcAft>
                <a:spcPts val="0"/>
              </a:spcAft>
              <a:buSzPts val="2400"/>
              <a:buFont typeface="Times New Roman"/>
              <a:buChar char="▪"/>
            </a:pPr>
            <a:r>
              <a:rPr i="0" lang="en-US">
                <a:solidFill>
                  <a:srgbClr val="131313"/>
                </a:solidFill>
                <a:latin typeface="Times New Roman"/>
                <a:ea typeface="Times New Roman"/>
                <a:cs typeface="Times New Roman"/>
                <a:sym typeface="Times New Roman"/>
              </a:rPr>
              <a:t>Solar panel x 1 </a:t>
            </a:r>
            <a:endParaRPr>
              <a:latin typeface="Times New Roman"/>
              <a:ea typeface="Times New Roman"/>
              <a:cs typeface="Times New Roman"/>
              <a:sym typeface="Times New Roman"/>
            </a:endParaRPr>
          </a:p>
          <a:p>
            <a:pPr indent="-381000" lvl="0" marL="457200" rtl="0" algn="l">
              <a:lnSpc>
                <a:spcPct val="114000"/>
              </a:lnSpc>
              <a:spcBef>
                <a:spcPts val="480"/>
              </a:spcBef>
              <a:spcAft>
                <a:spcPts val="0"/>
              </a:spcAft>
              <a:buSzPts val="2400"/>
              <a:buFont typeface="Times New Roman"/>
              <a:buChar char="▪"/>
            </a:pPr>
            <a:r>
              <a:rPr i="0" lang="en-US">
                <a:solidFill>
                  <a:srgbClr val="131313"/>
                </a:solidFill>
                <a:latin typeface="Times New Roman"/>
                <a:ea typeface="Times New Roman"/>
                <a:cs typeface="Times New Roman"/>
                <a:sym typeface="Times New Roman"/>
              </a:rPr>
              <a:t>SG90 servo motor x 1 -</a:t>
            </a:r>
            <a:endParaRPr i="0" u="sng" strike="noStrike">
              <a:solidFill>
                <a:srgbClr val="065FD4"/>
              </a:solidFill>
              <a:latin typeface="Times New Roman"/>
              <a:ea typeface="Times New Roman"/>
              <a:cs typeface="Times New Roman"/>
              <a:sym typeface="Times New Roman"/>
              <a:hlinkClick r:id="rId4">
                <a:extLst>
                  <a:ext uri="{A12FA001-AC4F-418D-AE19-62706E023703}">
                    <ahyp:hlinkClr val="tx"/>
                  </a:ext>
                </a:extLst>
              </a:hlinkClick>
            </a:endParaRPr>
          </a:p>
          <a:p>
            <a:pPr indent="-381000" lvl="0" marL="457200" rtl="0" algn="l">
              <a:lnSpc>
                <a:spcPct val="114000"/>
              </a:lnSpc>
              <a:spcBef>
                <a:spcPts val="480"/>
              </a:spcBef>
              <a:spcAft>
                <a:spcPts val="0"/>
              </a:spcAft>
              <a:buSzPts val="2400"/>
              <a:buFont typeface="Times New Roman"/>
              <a:buChar char="▪"/>
            </a:pPr>
            <a:r>
              <a:rPr i="0" lang="en-US">
                <a:solidFill>
                  <a:srgbClr val="131313"/>
                </a:solidFill>
                <a:latin typeface="Times New Roman"/>
                <a:ea typeface="Times New Roman"/>
                <a:cs typeface="Times New Roman"/>
                <a:sym typeface="Times New Roman"/>
              </a:rPr>
              <a:t>LDR sensor x 2</a:t>
            </a:r>
            <a:endParaRPr i="0" u="sng" strike="noStrike">
              <a:solidFill>
                <a:srgbClr val="065FD4"/>
              </a:solidFill>
              <a:latin typeface="Times New Roman"/>
              <a:ea typeface="Times New Roman"/>
              <a:cs typeface="Times New Roman"/>
              <a:sym typeface="Times New Roman"/>
              <a:hlinkClick r:id="rId5">
                <a:extLst>
                  <a:ext uri="{A12FA001-AC4F-418D-AE19-62706E023703}">
                    <ahyp:hlinkClr val="tx"/>
                  </a:ext>
                </a:extLst>
              </a:hlinkClick>
            </a:endParaRPr>
          </a:p>
          <a:p>
            <a:pPr indent="-381000" lvl="0" marL="457200" rtl="0" algn="l">
              <a:lnSpc>
                <a:spcPct val="114000"/>
              </a:lnSpc>
              <a:spcBef>
                <a:spcPts val="480"/>
              </a:spcBef>
              <a:spcAft>
                <a:spcPts val="0"/>
              </a:spcAft>
              <a:buSzPts val="2400"/>
              <a:buFont typeface="Times New Roman"/>
              <a:buChar char="▪"/>
            </a:pPr>
            <a:r>
              <a:rPr i="0" lang="en-US">
                <a:solidFill>
                  <a:srgbClr val="131313"/>
                </a:solidFill>
                <a:latin typeface="Times New Roman"/>
                <a:ea typeface="Times New Roman"/>
                <a:cs typeface="Times New Roman"/>
                <a:sym typeface="Times New Roman"/>
              </a:rPr>
              <a:t>10k resistor x 2</a:t>
            </a:r>
            <a:endParaRPr i="0" u="sng" strike="noStrike">
              <a:solidFill>
                <a:srgbClr val="065FD4"/>
              </a:solidFill>
              <a:latin typeface="Times New Roman"/>
              <a:ea typeface="Times New Roman"/>
              <a:cs typeface="Times New Roman"/>
              <a:sym typeface="Times New Roman"/>
              <a:hlinkClick r:id="rId6">
                <a:extLst>
                  <a:ext uri="{A12FA001-AC4F-418D-AE19-62706E023703}">
                    <ahyp:hlinkClr val="tx"/>
                  </a:ext>
                </a:extLst>
              </a:hlinkClick>
            </a:endParaRPr>
          </a:p>
          <a:p>
            <a:pPr indent="-381000" lvl="0" marL="457200" rtl="0" algn="l">
              <a:lnSpc>
                <a:spcPct val="114000"/>
              </a:lnSpc>
              <a:spcBef>
                <a:spcPts val="480"/>
              </a:spcBef>
              <a:spcAft>
                <a:spcPts val="0"/>
              </a:spcAft>
              <a:buSzPts val="2400"/>
              <a:buFont typeface="Times New Roman"/>
              <a:buChar char="▪"/>
            </a:pPr>
            <a:r>
              <a:rPr i="0" lang="en-US">
                <a:solidFill>
                  <a:srgbClr val="131313"/>
                </a:solidFill>
                <a:latin typeface="Times New Roman"/>
                <a:ea typeface="Times New Roman"/>
                <a:cs typeface="Times New Roman"/>
                <a:sym typeface="Times New Roman"/>
              </a:rPr>
              <a:t>Jumper wires</a:t>
            </a:r>
            <a:endParaRPr i="0" u="sng" strike="noStrike">
              <a:solidFill>
                <a:srgbClr val="065FD4"/>
              </a:solidFill>
              <a:latin typeface="Times New Roman"/>
              <a:ea typeface="Times New Roman"/>
              <a:cs typeface="Times New Roman"/>
              <a:sym typeface="Times New Roman"/>
              <a:hlinkClick r:id="rId7">
                <a:extLst>
                  <a:ext uri="{A12FA001-AC4F-418D-AE19-62706E023703}">
                    <ahyp:hlinkClr val="tx"/>
                  </a:ext>
                </a:extLst>
              </a:hlinkClick>
            </a:endParaRPr>
          </a:p>
          <a:p>
            <a:pPr indent="-381000" lvl="0" marL="457200" rtl="0" algn="l">
              <a:lnSpc>
                <a:spcPct val="114000"/>
              </a:lnSpc>
              <a:spcBef>
                <a:spcPts val="480"/>
              </a:spcBef>
              <a:spcAft>
                <a:spcPts val="0"/>
              </a:spcAft>
              <a:buClr>
                <a:schemeClr val="dk1"/>
              </a:buClr>
              <a:buSzPts val="2400"/>
              <a:buFont typeface="Times New Roman"/>
              <a:buChar char="▪"/>
            </a:pPr>
            <a:r>
              <a:rPr i="0" lang="en-US">
                <a:solidFill>
                  <a:srgbClr val="131313"/>
                </a:solidFill>
                <a:latin typeface="Times New Roman"/>
                <a:ea typeface="Times New Roman"/>
                <a:cs typeface="Times New Roman"/>
                <a:sym typeface="Times New Roman"/>
              </a:rPr>
              <a:t>Rigifoam / Foam board / Cardboard</a:t>
            </a:r>
            <a:endParaRPr>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2df93b90f86_2_1"/>
          <p:cNvSpPr txBox="1"/>
          <p:nvPr>
            <p:ph idx="1" type="body"/>
          </p:nvPr>
        </p:nvSpPr>
        <p:spPr>
          <a:xfrm>
            <a:off x="85450" y="952200"/>
            <a:ext cx="8800200" cy="6227700"/>
          </a:xfrm>
          <a:prstGeom prst="rect">
            <a:avLst/>
          </a:prstGeom>
        </p:spPr>
        <p:txBody>
          <a:bodyPr anchorCtr="0" anchor="t" bIns="45700" lIns="91425" spcFirstLastPara="1" rIns="91425" wrap="square" tIns="45700">
            <a:normAutofit fontScale="70000" lnSpcReduction="20000"/>
          </a:bodyPr>
          <a:lstStyle/>
          <a:p>
            <a:pPr indent="-348615" lvl="0" marL="457200" rtl="0" algn="l">
              <a:spcBef>
                <a:spcPts val="480"/>
              </a:spcBef>
              <a:spcAft>
                <a:spcPts val="0"/>
              </a:spcAft>
              <a:buSzPct val="100000"/>
              <a:buFont typeface="Times New Roman"/>
              <a:buChar char="▪"/>
            </a:pPr>
            <a:r>
              <a:rPr b="1" lang="en-US" sz="2700">
                <a:solidFill>
                  <a:srgbClr val="131313"/>
                </a:solidFill>
                <a:latin typeface="Times New Roman"/>
                <a:ea typeface="Times New Roman"/>
                <a:cs typeface="Times New Roman"/>
                <a:sym typeface="Times New Roman"/>
              </a:rPr>
              <a:t>Arduino UNO board x 1:</a:t>
            </a:r>
            <a:endParaRPr b="1" sz="2700">
              <a:solidFill>
                <a:srgbClr val="131313"/>
              </a:solidFill>
              <a:latin typeface="Times New Roman"/>
              <a:ea typeface="Times New Roman"/>
              <a:cs typeface="Times New Roman"/>
              <a:sym typeface="Times New Roman"/>
            </a:endParaRPr>
          </a:p>
          <a:p>
            <a:pPr indent="0" lvl="0" marL="457200" rtl="0" algn="just">
              <a:spcBef>
                <a:spcPts val="480"/>
              </a:spcBef>
              <a:spcAft>
                <a:spcPts val="0"/>
              </a:spcAft>
              <a:buNone/>
            </a:pPr>
            <a:r>
              <a:rPr lang="en-US" sz="2700">
                <a:solidFill>
                  <a:srgbClr val="131313"/>
                </a:solidFill>
                <a:latin typeface="Times New Roman"/>
                <a:ea typeface="Times New Roman"/>
                <a:cs typeface="Times New Roman"/>
                <a:sym typeface="Times New Roman"/>
              </a:rPr>
              <a:t>	The Arduino UNO is a microcontroller board based on the ATmega328P, featuring 14 digital input/output pins, 6 analog inputs, a 16 MHz quartz crystal, a USB connection, a power jack, an ICSP header, and a reset button, making it ideal for beginners and advanced users to create interactive projects.</a:t>
            </a:r>
            <a:endParaRPr sz="2700">
              <a:solidFill>
                <a:srgbClr val="131313"/>
              </a:solidFill>
              <a:latin typeface="Times New Roman"/>
              <a:ea typeface="Times New Roman"/>
              <a:cs typeface="Times New Roman"/>
              <a:sym typeface="Times New Roman"/>
            </a:endParaRPr>
          </a:p>
          <a:p>
            <a:pPr indent="-348615" lvl="0" marL="457200" rtl="0" algn="l">
              <a:spcBef>
                <a:spcPts val="480"/>
              </a:spcBef>
              <a:spcAft>
                <a:spcPts val="0"/>
              </a:spcAft>
              <a:buSzPct val="100000"/>
              <a:buFont typeface="Times New Roman"/>
              <a:buChar char="▪"/>
            </a:pPr>
            <a:r>
              <a:rPr b="1" lang="en-US" sz="2700">
                <a:solidFill>
                  <a:srgbClr val="131313"/>
                </a:solidFill>
                <a:latin typeface="Times New Roman"/>
                <a:ea typeface="Times New Roman"/>
                <a:cs typeface="Times New Roman"/>
                <a:sym typeface="Times New Roman"/>
              </a:rPr>
              <a:t>Solar panel x 1:</a:t>
            </a:r>
            <a:endParaRPr b="1" sz="2700">
              <a:solidFill>
                <a:srgbClr val="131313"/>
              </a:solidFill>
              <a:latin typeface="Times New Roman"/>
              <a:ea typeface="Times New Roman"/>
              <a:cs typeface="Times New Roman"/>
              <a:sym typeface="Times New Roman"/>
            </a:endParaRPr>
          </a:p>
          <a:p>
            <a:pPr indent="0" lvl="0" marL="457200" rtl="0" algn="l">
              <a:spcBef>
                <a:spcPts val="480"/>
              </a:spcBef>
              <a:spcAft>
                <a:spcPts val="0"/>
              </a:spcAft>
              <a:buNone/>
            </a:pPr>
            <a:r>
              <a:rPr lang="en-US" sz="2700">
                <a:solidFill>
                  <a:srgbClr val="131313"/>
                </a:solidFill>
                <a:latin typeface="Times New Roman"/>
                <a:ea typeface="Times New Roman"/>
                <a:cs typeface="Times New Roman"/>
                <a:sym typeface="Times New Roman"/>
              </a:rPr>
              <a:t>	A solar panel is a device that converts sunlight into electrical energy, typically composed of numerous photovoltaic cells.</a:t>
            </a:r>
            <a:endParaRPr sz="2700">
              <a:solidFill>
                <a:srgbClr val="131313"/>
              </a:solidFill>
              <a:latin typeface="Times New Roman"/>
              <a:ea typeface="Times New Roman"/>
              <a:cs typeface="Times New Roman"/>
              <a:sym typeface="Times New Roman"/>
            </a:endParaRPr>
          </a:p>
          <a:p>
            <a:pPr indent="-348615" lvl="0" marL="457200" rtl="0" algn="l">
              <a:spcBef>
                <a:spcPts val="480"/>
              </a:spcBef>
              <a:spcAft>
                <a:spcPts val="0"/>
              </a:spcAft>
              <a:buSzPct val="100000"/>
              <a:buChar char="▪"/>
            </a:pPr>
            <a:r>
              <a:rPr b="1" lang="en-US" sz="2700">
                <a:solidFill>
                  <a:srgbClr val="131313"/>
                </a:solidFill>
                <a:latin typeface="Times New Roman"/>
                <a:ea typeface="Times New Roman"/>
                <a:cs typeface="Times New Roman"/>
                <a:sym typeface="Times New Roman"/>
              </a:rPr>
              <a:t>SG90 servo motor x 1</a:t>
            </a:r>
            <a:r>
              <a:rPr lang="en-US" sz="2700">
                <a:solidFill>
                  <a:srgbClr val="131313"/>
                </a:solidFill>
                <a:latin typeface="Times New Roman"/>
                <a:ea typeface="Times New Roman"/>
                <a:cs typeface="Times New Roman"/>
                <a:sym typeface="Times New Roman"/>
              </a:rPr>
              <a:t>: </a:t>
            </a:r>
            <a:endParaRPr sz="2700">
              <a:solidFill>
                <a:srgbClr val="131313"/>
              </a:solidFill>
              <a:latin typeface="Times New Roman"/>
              <a:ea typeface="Times New Roman"/>
              <a:cs typeface="Times New Roman"/>
              <a:sym typeface="Times New Roman"/>
            </a:endParaRPr>
          </a:p>
          <a:p>
            <a:pPr indent="0" lvl="0" marL="457200" rtl="0" algn="just">
              <a:spcBef>
                <a:spcPts val="480"/>
              </a:spcBef>
              <a:spcAft>
                <a:spcPts val="0"/>
              </a:spcAft>
              <a:buNone/>
            </a:pPr>
            <a:r>
              <a:rPr lang="en-US" sz="2700">
                <a:solidFill>
                  <a:srgbClr val="131313"/>
                </a:solidFill>
                <a:latin typeface="Times New Roman"/>
                <a:ea typeface="Times New Roman"/>
                <a:cs typeface="Times New Roman"/>
                <a:sym typeface="Times New Roman"/>
              </a:rPr>
              <a:t>	The SG90 servo motor is a compact, lightweight actuator commonly used in hobbyist robotics and control systems, capable of precise angular movement typically up to 180 degrees.</a:t>
            </a:r>
            <a:endParaRPr sz="2700">
              <a:solidFill>
                <a:srgbClr val="131313"/>
              </a:solidFill>
              <a:latin typeface="Times New Roman"/>
              <a:ea typeface="Times New Roman"/>
              <a:cs typeface="Times New Roman"/>
              <a:sym typeface="Times New Roman"/>
            </a:endParaRPr>
          </a:p>
          <a:p>
            <a:pPr indent="-348615" lvl="0" marL="457200" rtl="0" algn="l">
              <a:spcBef>
                <a:spcPts val="480"/>
              </a:spcBef>
              <a:spcAft>
                <a:spcPts val="0"/>
              </a:spcAft>
              <a:buSzPct val="100000"/>
              <a:buFont typeface="Times New Roman"/>
              <a:buChar char="▪"/>
            </a:pPr>
            <a:r>
              <a:rPr b="1" lang="en-US" sz="2700">
                <a:solidFill>
                  <a:srgbClr val="131313"/>
                </a:solidFill>
                <a:latin typeface="Times New Roman"/>
                <a:ea typeface="Times New Roman"/>
                <a:cs typeface="Times New Roman"/>
                <a:sym typeface="Times New Roman"/>
              </a:rPr>
              <a:t>LDR sensor x 2:</a:t>
            </a:r>
            <a:endParaRPr b="1" sz="2700">
              <a:solidFill>
                <a:srgbClr val="131313"/>
              </a:solidFill>
              <a:latin typeface="Times New Roman"/>
              <a:ea typeface="Times New Roman"/>
              <a:cs typeface="Times New Roman"/>
              <a:sym typeface="Times New Roman"/>
            </a:endParaRPr>
          </a:p>
          <a:p>
            <a:pPr indent="0" lvl="0" marL="457200" rtl="0" algn="l">
              <a:spcBef>
                <a:spcPts val="480"/>
              </a:spcBef>
              <a:spcAft>
                <a:spcPts val="0"/>
              </a:spcAft>
              <a:buNone/>
            </a:pPr>
            <a:r>
              <a:rPr lang="en-US" sz="2700">
                <a:solidFill>
                  <a:srgbClr val="131313"/>
                </a:solidFill>
                <a:latin typeface="Times New Roman"/>
                <a:ea typeface="Times New Roman"/>
                <a:cs typeface="Times New Roman"/>
                <a:sym typeface="Times New Roman"/>
              </a:rPr>
              <a:t>	LDR sensors, or Light Dependent Resistors, are components that change their resistance based on light intensity, typically used in light sensing and detection applications.</a:t>
            </a:r>
            <a:endParaRPr sz="2700">
              <a:solidFill>
                <a:srgbClr val="131313"/>
              </a:solidFill>
              <a:latin typeface="Times New Roman"/>
              <a:ea typeface="Times New Roman"/>
              <a:cs typeface="Times New Roman"/>
              <a:sym typeface="Times New Roman"/>
            </a:endParaRPr>
          </a:p>
          <a:p>
            <a:pPr indent="0" lvl="0" marL="0" rtl="0" algn="l">
              <a:spcBef>
                <a:spcPts val="480"/>
              </a:spcBef>
              <a:spcAft>
                <a:spcPts val="0"/>
              </a:spcAft>
              <a:buNone/>
            </a:pPr>
            <a:r>
              <a:t/>
            </a:r>
            <a:endParaRPr sz="1800">
              <a:solidFill>
                <a:srgbClr val="131313"/>
              </a:solidFill>
              <a:latin typeface="Roboto"/>
              <a:ea typeface="Roboto"/>
              <a:cs typeface="Roboto"/>
              <a:sym typeface="Roboto"/>
            </a:endParaRPr>
          </a:p>
          <a:p>
            <a:pPr indent="0" lvl="0" marL="457200" rtl="0" algn="l">
              <a:spcBef>
                <a:spcPts val="480"/>
              </a:spcBef>
              <a:spcAft>
                <a:spcPts val="0"/>
              </a:spcAft>
              <a:buNone/>
            </a:pPr>
            <a:r>
              <a:t/>
            </a:r>
            <a:endParaRPr sz="1800">
              <a:solidFill>
                <a:srgbClr val="131313"/>
              </a:solidFill>
              <a:latin typeface="Roboto"/>
              <a:ea typeface="Roboto"/>
              <a:cs typeface="Roboto"/>
              <a:sym typeface="Roboto"/>
            </a:endParaRPr>
          </a:p>
          <a:p>
            <a:pPr indent="0" lvl="0" marL="457200" rtl="0" algn="l">
              <a:spcBef>
                <a:spcPts val="480"/>
              </a:spcBef>
              <a:spcAft>
                <a:spcPts val="0"/>
              </a:spcAft>
              <a:buNone/>
            </a:pPr>
            <a:r>
              <a:rPr lang="en-US">
                <a:solidFill>
                  <a:srgbClr val="131313"/>
                </a:solidFill>
                <a:latin typeface="Roboto"/>
                <a:ea typeface="Roboto"/>
                <a:cs typeface="Roboto"/>
                <a:sym typeface="Roboto"/>
              </a:rPr>
              <a:t>	</a:t>
            </a:r>
            <a:endParaRPr>
              <a:solidFill>
                <a:srgbClr val="131313"/>
              </a:solidFill>
              <a:latin typeface="Roboto"/>
              <a:ea typeface="Roboto"/>
              <a:cs typeface="Roboto"/>
              <a:sym typeface="Roboto"/>
            </a:endParaRPr>
          </a:p>
          <a:p>
            <a:pPr indent="0" lvl="0" marL="0" rtl="0" algn="just">
              <a:spcBef>
                <a:spcPts val="480"/>
              </a:spcBef>
              <a:spcAft>
                <a:spcPts val="0"/>
              </a:spcAft>
              <a:buNone/>
            </a:pPr>
            <a:r>
              <a:t/>
            </a:r>
            <a:endParaRPr sz="1800">
              <a:solidFill>
                <a:srgbClr val="131313"/>
              </a:solidFill>
              <a:latin typeface="Roboto"/>
              <a:ea typeface="Roboto"/>
              <a:cs typeface="Roboto"/>
              <a:sym typeface="Roboto"/>
            </a:endParaRPr>
          </a:p>
          <a:p>
            <a:pPr indent="0" lvl="0" marL="0" rtl="0" algn="just">
              <a:spcBef>
                <a:spcPts val="480"/>
              </a:spcBef>
              <a:spcAft>
                <a:spcPts val="0"/>
              </a:spcAft>
              <a:buNone/>
            </a:pPr>
            <a:r>
              <a:t/>
            </a:r>
            <a:endParaRPr sz="1800">
              <a:solidFill>
                <a:srgbClr val="131313"/>
              </a:solidFill>
              <a:latin typeface="Roboto"/>
              <a:ea typeface="Roboto"/>
              <a:cs typeface="Roboto"/>
              <a:sym typeface="Roboto"/>
            </a:endParaRPr>
          </a:p>
        </p:txBody>
      </p:sp>
      <p:sp>
        <p:nvSpPr>
          <p:cNvPr id="183" name="Google Shape;183;g2df93b90f86_2_1"/>
          <p:cNvSpPr txBox="1"/>
          <p:nvPr>
            <p:ph type="title"/>
          </p:nvPr>
        </p:nvSpPr>
        <p:spPr>
          <a:xfrm>
            <a:off x="190500" y="69288"/>
            <a:ext cx="8763000" cy="8079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b="1" lang="en-US" sz="4100">
                <a:latin typeface="Times New Roman"/>
                <a:ea typeface="Times New Roman"/>
                <a:cs typeface="Times New Roman"/>
                <a:sym typeface="Times New Roman"/>
              </a:rPr>
              <a:t>MODULES</a:t>
            </a:r>
            <a:endParaRPr b="1" sz="410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2df93b90f86_2_11"/>
          <p:cNvSpPr txBox="1"/>
          <p:nvPr>
            <p:ph type="title"/>
          </p:nvPr>
        </p:nvSpPr>
        <p:spPr>
          <a:xfrm>
            <a:off x="190500" y="106363"/>
            <a:ext cx="8763000" cy="807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a:latin typeface="Times New Roman"/>
                <a:ea typeface="Times New Roman"/>
                <a:cs typeface="Times New Roman"/>
                <a:sym typeface="Times New Roman"/>
              </a:rPr>
              <a:t>MODULES:</a:t>
            </a:r>
            <a:endParaRPr b="1">
              <a:latin typeface="Times New Roman"/>
              <a:ea typeface="Times New Roman"/>
              <a:cs typeface="Times New Roman"/>
              <a:sym typeface="Times New Roman"/>
            </a:endParaRPr>
          </a:p>
        </p:txBody>
      </p:sp>
      <p:sp>
        <p:nvSpPr>
          <p:cNvPr id="190" name="Google Shape;190;g2df93b90f86_2_11"/>
          <p:cNvSpPr txBox="1"/>
          <p:nvPr>
            <p:ph idx="1" type="body"/>
          </p:nvPr>
        </p:nvSpPr>
        <p:spPr>
          <a:xfrm>
            <a:off x="190500" y="976100"/>
            <a:ext cx="8763000" cy="5334000"/>
          </a:xfrm>
          <a:prstGeom prst="rect">
            <a:avLst/>
          </a:prstGeom>
        </p:spPr>
        <p:txBody>
          <a:bodyPr anchorCtr="0" anchor="t" bIns="45700" lIns="91425" spcFirstLastPara="1" rIns="91425" wrap="square" tIns="45700">
            <a:normAutofit/>
          </a:bodyPr>
          <a:lstStyle/>
          <a:p>
            <a:pPr indent="-361950" lvl="0" marL="457200" rtl="0" algn="just">
              <a:spcBef>
                <a:spcPts val="480"/>
              </a:spcBef>
              <a:spcAft>
                <a:spcPts val="0"/>
              </a:spcAft>
              <a:buSzPts val="2100"/>
              <a:buFont typeface="Times New Roman"/>
              <a:buChar char="▪"/>
            </a:pPr>
            <a:r>
              <a:rPr b="1" lang="en-US" sz="2100">
                <a:solidFill>
                  <a:srgbClr val="131313"/>
                </a:solidFill>
                <a:latin typeface="Times New Roman"/>
                <a:ea typeface="Times New Roman"/>
                <a:cs typeface="Times New Roman"/>
                <a:sym typeface="Times New Roman"/>
              </a:rPr>
              <a:t>10k resistor x 2</a:t>
            </a:r>
            <a:r>
              <a:rPr lang="en-US" sz="2100">
                <a:solidFill>
                  <a:srgbClr val="131313"/>
                </a:solidFill>
                <a:latin typeface="Times New Roman"/>
                <a:ea typeface="Times New Roman"/>
                <a:cs typeface="Times New Roman"/>
                <a:sym typeface="Times New Roman"/>
              </a:rPr>
              <a:t>:</a:t>
            </a:r>
            <a:endParaRPr sz="2100">
              <a:solidFill>
                <a:srgbClr val="131313"/>
              </a:solidFill>
              <a:latin typeface="Times New Roman"/>
              <a:ea typeface="Times New Roman"/>
              <a:cs typeface="Times New Roman"/>
              <a:sym typeface="Times New Roman"/>
            </a:endParaRPr>
          </a:p>
          <a:p>
            <a:pPr indent="0" lvl="0" marL="457200" rtl="0" algn="just">
              <a:spcBef>
                <a:spcPts val="480"/>
              </a:spcBef>
              <a:spcAft>
                <a:spcPts val="0"/>
              </a:spcAft>
              <a:buNone/>
            </a:pPr>
            <a:r>
              <a:rPr lang="en-US" sz="2100">
                <a:solidFill>
                  <a:srgbClr val="131313"/>
                </a:solidFill>
                <a:latin typeface="Times New Roman"/>
                <a:ea typeface="Times New Roman"/>
                <a:cs typeface="Times New Roman"/>
                <a:sym typeface="Times New Roman"/>
              </a:rPr>
              <a:t>	Two 10k resistors are passive electrical components, each with a resistance of 10,000 ohms, used to limit current and divide voltages in electronic circuits.</a:t>
            </a:r>
            <a:endParaRPr sz="2100">
              <a:solidFill>
                <a:srgbClr val="131313"/>
              </a:solidFill>
              <a:latin typeface="Times New Roman"/>
              <a:ea typeface="Times New Roman"/>
              <a:cs typeface="Times New Roman"/>
              <a:sym typeface="Times New Roman"/>
            </a:endParaRPr>
          </a:p>
          <a:p>
            <a:pPr indent="-361950" lvl="0" marL="457200" rtl="0" algn="just">
              <a:spcBef>
                <a:spcPts val="480"/>
              </a:spcBef>
              <a:spcAft>
                <a:spcPts val="0"/>
              </a:spcAft>
              <a:buSzPts val="2100"/>
              <a:buFont typeface="Times New Roman"/>
              <a:buChar char="▪"/>
            </a:pPr>
            <a:r>
              <a:rPr b="1" lang="en-US" sz="2100">
                <a:solidFill>
                  <a:srgbClr val="131313"/>
                </a:solidFill>
                <a:latin typeface="Times New Roman"/>
                <a:ea typeface="Times New Roman"/>
                <a:cs typeface="Times New Roman"/>
                <a:sym typeface="Times New Roman"/>
              </a:rPr>
              <a:t>Jumper wires</a:t>
            </a:r>
            <a:r>
              <a:rPr lang="en-US" sz="2100">
                <a:solidFill>
                  <a:srgbClr val="131313"/>
                </a:solidFill>
                <a:latin typeface="Times New Roman"/>
                <a:ea typeface="Times New Roman"/>
                <a:cs typeface="Times New Roman"/>
                <a:sym typeface="Times New Roman"/>
              </a:rPr>
              <a:t>:</a:t>
            </a:r>
            <a:endParaRPr sz="2100">
              <a:solidFill>
                <a:srgbClr val="131313"/>
              </a:solidFill>
              <a:latin typeface="Times New Roman"/>
              <a:ea typeface="Times New Roman"/>
              <a:cs typeface="Times New Roman"/>
              <a:sym typeface="Times New Roman"/>
            </a:endParaRPr>
          </a:p>
          <a:p>
            <a:pPr indent="0" lvl="0" marL="457200" rtl="0" algn="just">
              <a:spcBef>
                <a:spcPts val="480"/>
              </a:spcBef>
              <a:spcAft>
                <a:spcPts val="0"/>
              </a:spcAft>
              <a:buNone/>
            </a:pPr>
            <a:r>
              <a:rPr lang="en-US" sz="2100">
                <a:solidFill>
                  <a:srgbClr val="131313"/>
                </a:solidFill>
                <a:latin typeface="Times New Roman"/>
                <a:ea typeface="Times New Roman"/>
                <a:cs typeface="Times New Roman"/>
                <a:sym typeface="Times New Roman"/>
              </a:rPr>
              <a:t>	Jumper wires are electrical wires with connector pins at each end, used to connect components on a breadboard or other prototyping setup without soldering.</a:t>
            </a:r>
            <a:endParaRPr sz="2100">
              <a:solidFill>
                <a:srgbClr val="131313"/>
              </a:solidFill>
              <a:latin typeface="Times New Roman"/>
              <a:ea typeface="Times New Roman"/>
              <a:cs typeface="Times New Roman"/>
              <a:sym typeface="Times New Roman"/>
            </a:endParaRPr>
          </a:p>
          <a:p>
            <a:pPr indent="-361950" lvl="0" marL="457200" rtl="0" algn="just">
              <a:spcBef>
                <a:spcPts val="480"/>
              </a:spcBef>
              <a:spcAft>
                <a:spcPts val="0"/>
              </a:spcAft>
              <a:buSzPts val="2100"/>
              <a:buFont typeface="Times New Roman"/>
              <a:buChar char="▪"/>
            </a:pPr>
            <a:r>
              <a:rPr b="1" lang="en-US" sz="2100">
                <a:solidFill>
                  <a:srgbClr val="131313"/>
                </a:solidFill>
                <a:latin typeface="Times New Roman"/>
                <a:ea typeface="Times New Roman"/>
                <a:cs typeface="Times New Roman"/>
                <a:sym typeface="Times New Roman"/>
              </a:rPr>
              <a:t>Rigifoam / Foam board / Cardboard</a:t>
            </a:r>
            <a:r>
              <a:rPr lang="en-US" sz="2100">
                <a:solidFill>
                  <a:srgbClr val="131313"/>
                </a:solidFill>
                <a:latin typeface="Times New Roman"/>
                <a:ea typeface="Times New Roman"/>
                <a:cs typeface="Times New Roman"/>
                <a:sym typeface="Times New Roman"/>
              </a:rPr>
              <a:t>:</a:t>
            </a:r>
            <a:endParaRPr sz="2100">
              <a:solidFill>
                <a:srgbClr val="131313"/>
              </a:solidFill>
              <a:latin typeface="Times New Roman"/>
              <a:ea typeface="Times New Roman"/>
              <a:cs typeface="Times New Roman"/>
              <a:sym typeface="Times New Roman"/>
            </a:endParaRPr>
          </a:p>
          <a:p>
            <a:pPr indent="0" lvl="0" marL="0" rtl="0" algn="just">
              <a:spcBef>
                <a:spcPts val="480"/>
              </a:spcBef>
              <a:spcAft>
                <a:spcPts val="0"/>
              </a:spcAft>
              <a:buNone/>
            </a:pPr>
            <a:r>
              <a:rPr lang="en-US" sz="2100">
                <a:solidFill>
                  <a:srgbClr val="131313"/>
                </a:solidFill>
                <a:latin typeface="Times New Roman"/>
                <a:ea typeface="Times New Roman"/>
                <a:cs typeface="Times New Roman"/>
                <a:sym typeface="Times New Roman"/>
              </a:rPr>
              <a:t>		Rigifoam, foam board, or cardboard are versatile, lightweight materials   often   used for crafting, model-making, and creating structural prototypes in various projects</a:t>
            </a:r>
            <a:r>
              <a:rPr lang="en-US" sz="2100">
                <a:solidFill>
                  <a:srgbClr val="131313"/>
                </a:solidFill>
                <a:latin typeface="Roboto"/>
                <a:ea typeface="Roboto"/>
                <a:cs typeface="Roboto"/>
                <a:sym typeface="Roboto"/>
              </a:rPr>
              <a:t>.</a:t>
            </a:r>
            <a:endParaRPr sz="2100">
              <a:solidFill>
                <a:srgbClr val="131313"/>
              </a:solidFill>
              <a:latin typeface="Roboto"/>
              <a:ea typeface="Roboto"/>
              <a:cs typeface="Roboto"/>
              <a:sym typeface="Roboto"/>
            </a:endParaRPr>
          </a:p>
          <a:p>
            <a:pPr indent="0" lvl="0" marL="0" rtl="0" algn="l">
              <a:spcBef>
                <a:spcPts val="480"/>
              </a:spcBef>
              <a:spcAft>
                <a:spcPts val="0"/>
              </a:spcAft>
              <a:buNone/>
            </a:pPr>
            <a:r>
              <a:t/>
            </a:r>
            <a:endParaRPr sz="1800">
              <a:solidFill>
                <a:srgbClr val="131313"/>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3"/>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b="1" lang="en-US">
                <a:latin typeface="Times New Roman"/>
                <a:ea typeface="Times New Roman"/>
                <a:cs typeface="Times New Roman"/>
                <a:sym typeface="Times New Roman"/>
              </a:rPr>
              <a:t>CONCLUSION</a:t>
            </a:r>
            <a:endParaRPr b="1">
              <a:latin typeface="Times New Roman"/>
              <a:ea typeface="Times New Roman"/>
              <a:cs typeface="Times New Roman"/>
              <a:sym typeface="Times New Roman"/>
            </a:endParaRPr>
          </a:p>
        </p:txBody>
      </p:sp>
      <p:sp>
        <p:nvSpPr>
          <p:cNvPr id="197" name="Google Shape;197;p13"/>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0" rtl="0" algn="just">
              <a:lnSpc>
                <a:spcPct val="115000"/>
              </a:lnSpc>
              <a:spcBef>
                <a:spcPts val="1200"/>
              </a:spcBef>
              <a:spcAft>
                <a:spcPts val="0"/>
              </a:spcAft>
              <a:buClr>
                <a:schemeClr val="dk1"/>
              </a:buClr>
              <a:buSzPts val="1100"/>
              <a:buFont typeface="Arial"/>
              <a:buNone/>
            </a:pPr>
            <a:r>
              <a:rPr b="1" lang="en-US" sz="2100">
                <a:latin typeface="Times New Roman"/>
                <a:ea typeface="Times New Roman"/>
                <a:cs typeface="Times New Roman"/>
                <a:sym typeface="Times New Roman"/>
              </a:rPr>
              <a:t>     </a:t>
            </a:r>
            <a:endParaRPr b="1" sz="2100">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lang="en-US" sz="2100">
                <a:solidFill>
                  <a:srgbClr val="0D0D0D"/>
                </a:solidFill>
                <a:highlight>
                  <a:srgbClr val="FFFFFF"/>
                </a:highlight>
                <a:latin typeface="Times New Roman"/>
                <a:ea typeface="Times New Roman"/>
                <a:cs typeface="Times New Roman"/>
                <a:sym typeface="Times New Roman"/>
              </a:rPr>
              <a:t>        The proposed system </a:t>
            </a:r>
            <a:r>
              <a:rPr lang="en-US" sz="2100">
                <a:solidFill>
                  <a:srgbClr val="0D0D0D"/>
                </a:solidFill>
                <a:highlight>
                  <a:srgbClr val="FFFFFF"/>
                </a:highlight>
                <a:latin typeface="Times New Roman"/>
                <a:ea typeface="Times New Roman"/>
                <a:cs typeface="Times New Roman"/>
                <a:sym typeface="Times New Roman"/>
              </a:rPr>
              <a:t> </a:t>
            </a:r>
            <a:r>
              <a:rPr lang="en-US" sz="2100">
                <a:solidFill>
                  <a:srgbClr val="0D0D0D"/>
                </a:solidFill>
                <a:highlight>
                  <a:srgbClr val="FFFFFF"/>
                </a:highlight>
                <a:latin typeface="Times New Roman"/>
                <a:ea typeface="Times New Roman"/>
                <a:cs typeface="Times New Roman"/>
                <a:sym typeface="Times New Roman"/>
              </a:rPr>
              <a:t>is a highly effective solution for maximizing solar energy harvesting by continuously adjusting the orientation of solar panels to follow the sun's path across the sky. This system offers increased energy production and efficiency by maintaining optimal angles for solar exposure throughout the day and across seasons. By using sensors like LDRs and components such as SG90 servo motors, dual-axis tracking systems enable precise, automated panel positioning, thereby enhancing the overall performance and return on investment of solar installations. This technology plays a crucial role in advancing sustainable energy solutions and can be applied to a range of solar projects, from residential rooftops to large-scale solar farms.</a:t>
            </a:r>
            <a:endParaRPr sz="2100">
              <a:solidFill>
                <a:srgbClr val="0D0D0D"/>
              </a:solidFill>
              <a:highlight>
                <a:srgbClr val="FFFFFF"/>
              </a:highlight>
              <a:latin typeface="Times New Roman"/>
              <a:ea typeface="Times New Roman"/>
              <a:cs typeface="Times New Roman"/>
              <a:sym typeface="Times New Roman"/>
            </a:endParaRPr>
          </a:p>
          <a:p>
            <a:pPr indent="-190500" lvl="0" marL="342900" rtl="0" algn="l">
              <a:lnSpc>
                <a:spcPct val="114000"/>
              </a:lnSpc>
              <a:spcBef>
                <a:spcPts val="1200"/>
              </a:spcBef>
              <a:spcAft>
                <a:spcPts val="0"/>
              </a:spcAft>
              <a:buClr>
                <a:schemeClr val="dk1"/>
              </a:buClr>
              <a:buSzPts val="2400"/>
              <a:buFont typeface="Noto Sans Symbols"/>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4"/>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b="1" lang="en-US">
                <a:latin typeface="Times New Roman"/>
                <a:ea typeface="Times New Roman"/>
                <a:cs typeface="Times New Roman"/>
                <a:sym typeface="Times New Roman"/>
              </a:rPr>
              <a:t>FUTURE ENHANCEMENT</a:t>
            </a:r>
            <a:endParaRPr b="1">
              <a:latin typeface="Times New Roman"/>
              <a:ea typeface="Times New Roman"/>
              <a:cs typeface="Times New Roman"/>
              <a:sym typeface="Times New Roman"/>
            </a:endParaRPr>
          </a:p>
        </p:txBody>
      </p:sp>
      <p:sp>
        <p:nvSpPr>
          <p:cNvPr id="204" name="Google Shape;204;p14"/>
          <p:cNvSpPr txBox="1"/>
          <p:nvPr>
            <p:ph idx="1" type="body"/>
          </p:nvPr>
        </p:nvSpPr>
        <p:spPr>
          <a:xfrm>
            <a:off x="190500" y="990600"/>
            <a:ext cx="8763000" cy="5334000"/>
          </a:xfrm>
          <a:prstGeom prst="rect">
            <a:avLst/>
          </a:prstGeom>
          <a:noFill/>
          <a:ln>
            <a:noFill/>
          </a:ln>
        </p:spPr>
        <p:txBody>
          <a:bodyPr anchorCtr="0" anchor="t" bIns="45700" lIns="91425" spcFirstLastPara="1" rIns="91425" wrap="square" tIns="45700">
            <a:normAutofit/>
          </a:bodyPr>
          <a:lstStyle/>
          <a:p>
            <a:pPr indent="0" lvl="0" marL="914400" marR="330200" rtl="0" algn="just">
              <a:lnSpc>
                <a:spcPct val="115000"/>
              </a:lnSpc>
              <a:spcBef>
                <a:spcPts val="0"/>
              </a:spcBef>
              <a:spcAft>
                <a:spcPts val="0"/>
              </a:spcAft>
              <a:buNone/>
            </a:pPr>
            <a:r>
              <a:t/>
            </a:r>
            <a:endParaRPr sz="1800">
              <a:latin typeface="Times New Roman"/>
              <a:ea typeface="Times New Roman"/>
              <a:cs typeface="Times New Roman"/>
              <a:sym typeface="Times New Roman"/>
            </a:endParaRPr>
          </a:p>
          <a:p>
            <a:pPr indent="-349250" lvl="0" marL="457200" marR="330200" rtl="0" algn="just">
              <a:lnSpc>
                <a:spcPct val="115000"/>
              </a:lnSpc>
              <a:spcBef>
                <a:spcPts val="0"/>
              </a:spcBef>
              <a:spcAft>
                <a:spcPts val="0"/>
              </a:spcAft>
              <a:buSzPts val="1900"/>
              <a:buFont typeface="Times New Roman"/>
              <a:buChar char="▪"/>
            </a:pPr>
            <a:r>
              <a:rPr b="1" lang="en-US" sz="1900">
                <a:latin typeface="Times New Roman"/>
                <a:ea typeface="Times New Roman"/>
                <a:cs typeface="Times New Roman"/>
                <a:sym typeface="Times New Roman"/>
              </a:rPr>
              <a:t>Enhanced Sensor Technologies</a:t>
            </a:r>
            <a:r>
              <a:rPr lang="en-US" sz="1900">
                <a:latin typeface="Times New Roman"/>
                <a:ea typeface="Times New Roman"/>
                <a:cs typeface="Times New Roman"/>
                <a:sym typeface="Times New Roman"/>
              </a:rPr>
              <a:t>: Developing more advanced sensors (e.g., solar position sensors, infrared sensors) for better sun tracking and increased accuracy.</a:t>
            </a:r>
            <a:endParaRPr sz="1900">
              <a:latin typeface="Times New Roman"/>
              <a:ea typeface="Times New Roman"/>
              <a:cs typeface="Times New Roman"/>
              <a:sym typeface="Times New Roman"/>
            </a:endParaRPr>
          </a:p>
          <a:p>
            <a:pPr indent="0" lvl="0" marL="723900" marR="330200" rtl="0" algn="just">
              <a:lnSpc>
                <a:spcPct val="115000"/>
              </a:lnSpc>
              <a:spcBef>
                <a:spcPts val="0"/>
              </a:spcBef>
              <a:spcAft>
                <a:spcPts val="0"/>
              </a:spcAft>
              <a:buClr>
                <a:schemeClr val="dk1"/>
              </a:buClr>
              <a:buSzPts val="1100"/>
              <a:buFont typeface="Arial"/>
              <a:buNone/>
            </a:pPr>
            <a:r>
              <a:rPr lang="en-US" sz="1900">
                <a:latin typeface="Times New Roman"/>
                <a:ea typeface="Times New Roman"/>
                <a:cs typeface="Times New Roman"/>
                <a:sym typeface="Times New Roman"/>
              </a:rPr>
              <a:t> </a:t>
            </a:r>
            <a:endParaRPr b="1" sz="1900">
              <a:latin typeface="Times New Roman"/>
              <a:ea typeface="Times New Roman"/>
              <a:cs typeface="Times New Roman"/>
              <a:sym typeface="Times New Roman"/>
            </a:endParaRPr>
          </a:p>
          <a:p>
            <a:pPr indent="-349250" lvl="0" marL="457200" marR="330200" rtl="0" algn="just">
              <a:lnSpc>
                <a:spcPct val="115000"/>
              </a:lnSpc>
              <a:spcBef>
                <a:spcPts val="0"/>
              </a:spcBef>
              <a:spcAft>
                <a:spcPts val="0"/>
              </a:spcAft>
              <a:buSzPts val="1900"/>
              <a:buFont typeface="Times New Roman"/>
              <a:buChar char="▪"/>
            </a:pPr>
            <a:r>
              <a:rPr b="1" lang="en-US" sz="1900">
                <a:latin typeface="Times New Roman"/>
                <a:ea typeface="Times New Roman"/>
                <a:cs typeface="Times New Roman"/>
                <a:sym typeface="Times New Roman"/>
              </a:rPr>
              <a:t>Integration of AI and Machine Learning:</a:t>
            </a:r>
            <a:r>
              <a:rPr lang="en-US" sz="1900">
                <a:latin typeface="Times New Roman"/>
                <a:ea typeface="Times New Roman"/>
                <a:cs typeface="Times New Roman"/>
                <a:sym typeface="Times New Roman"/>
              </a:rPr>
              <a:t> Utilizing AI and machine learning algorithms to optimize solar panel positioning based on historical data, weather forecasts, and current environmental conditions.</a:t>
            </a:r>
            <a:endParaRPr sz="1900">
              <a:latin typeface="Times New Roman"/>
              <a:ea typeface="Times New Roman"/>
              <a:cs typeface="Times New Roman"/>
              <a:sym typeface="Times New Roman"/>
            </a:endParaRPr>
          </a:p>
          <a:p>
            <a:pPr indent="0" lvl="0" marL="914400" marR="330200" rtl="0" algn="just">
              <a:lnSpc>
                <a:spcPct val="115000"/>
              </a:lnSpc>
              <a:spcBef>
                <a:spcPts val="0"/>
              </a:spcBef>
              <a:spcAft>
                <a:spcPts val="0"/>
              </a:spcAft>
              <a:buNone/>
            </a:pPr>
            <a:r>
              <a:t/>
            </a:r>
            <a:endParaRPr sz="1900">
              <a:latin typeface="Times New Roman"/>
              <a:ea typeface="Times New Roman"/>
              <a:cs typeface="Times New Roman"/>
              <a:sym typeface="Times New Roman"/>
            </a:endParaRPr>
          </a:p>
          <a:p>
            <a:pPr indent="-349250" lvl="0" marL="457200" marR="330200" rtl="0" algn="just">
              <a:lnSpc>
                <a:spcPct val="115000"/>
              </a:lnSpc>
              <a:spcBef>
                <a:spcPts val="0"/>
              </a:spcBef>
              <a:spcAft>
                <a:spcPts val="0"/>
              </a:spcAft>
              <a:buSzPts val="1900"/>
              <a:buFont typeface="Times New Roman"/>
              <a:buChar char="▪"/>
            </a:pPr>
            <a:r>
              <a:rPr b="1" lang="en-US" sz="1900">
                <a:latin typeface="Times New Roman"/>
                <a:ea typeface="Times New Roman"/>
                <a:cs typeface="Times New Roman"/>
                <a:sym typeface="Times New Roman"/>
              </a:rPr>
              <a:t>Advanced Materials</a:t>
            </a:r>
            <a:r>
              <a:rPr lang="en-US" sz="1900">
                <a:latin typeface="Times New Roman"/>
                <a:ea typeface="Times New Roman"/>
                <a:cs typeface="Times New Roman"/>
                <a:sym typeface="Times New Roman"/>
              </a:rPr>
              <a:t>: Exploring the use of lightweight and durable materials for the construction of tracking systems to reduce wear and tear and enhance longevity.</a:t>
            </a:r>
            <a:endParaRPr sz="1900">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5"/>
          <p:cNvSpPr txBox="1"/>
          <p:nvPr>
            <p:ph type="title"/>
          </p:nvPr>
        </p:nvSpPr>
        <p:spPr>
          <a:xfrm>
            <a:off x="190500" y="106363"/>
            <a:ext cx="8763000" cy="808037"/>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Calibri"/>
              <a:buNone/>
            </a:pPr>
            <a:r>
              <a:rPr b="1" lang="en-US">
                <a:latin typeface="Times New Roman"/>
                <a:ea typeface="Times New Roman"/>
                <a:cs typeface="Times New Roman"/>
                <a:sym typeface="Times New Roman"/>
              </a:rPr>
              <a:t>REFERENCES</a:t>
            </a:r>
            <a:endParaRPr b="1">
              <a:latin typeface="Times New Roman"/>
              <a:ea typeface="Times New Roman"/>
              <a:cs typeface="Times New Roman"/>
              <a:sym typeface="Times New Roman"/>
            </a:endParaRPr>
          </a:p>
        </p:txBody>
      </p:sp>
      <p:sp>
        <p:nvSpPr>
          <p:cNvPr id="211" name="Google Shape;211;p15"/>
          <p:cNvSpPr txBox="1"/>
          <p:nvPr>
            <p:ph idx="1" type="body"/>
          </p:nvPr>
        </p:nvSpPr>
        <p:spPr>
          <a:xfrm>
            <a:off x="89000" y="914400"/>
            <a:ext cx="8763000" cy="53340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0"/>
              </a:spcBef>
              <a:spcAft>
                <a:spcPts val="0"/>
              </a:spcAft>
              <a:buClr>
                <a:schemeClr val="dk1"/>
              </a:buClr>
              <a:buSzPts val="1100"/>
              <a:buFont typeface="Arial"/>
              <a:buNone/>
            </a:pPr>
            <a:r>
              <a:rPr lang="en-US" sz="1800">
                <a:latin typeface="Times New Roman"/>
                <a:ea typeface="Times New Roman"/>
                <a:cs typeface="Times New Roman"/>
                <a:sym typeface="Times New Roman"/>
              </a:rPr>
              <a:t>[1]	M. R. Patel, Wind and Solar Power Systems Design, Analysis and Operations, 2nd Edition, CRC Press Taylor &amp; Francis Group Producing a PCB.n.d., BocaRaton,2019.</a:t>
            </a:r>
            <a:endParaRPr sz="1800">
              <a:latin typeface="Times New Roman"/>
              <a:ea typeface="Times New Roman"/>
              <a:cs typeface="Times New Roman"/>
              <a:sym typeface="Times New Roman"/>
            </a:endParaRPr>
          </a:p>
          <a:p>
            <a:pPr indent="0" lvl="0" marL="0" rtl="0" algn="just">
              <a:lnSpc>
                <a:spcPct val="115000"/>
              </a:lnSpc>
              <a:spcBef>
                <a:spcPts val="1560"/>
              </a:spcBef>
              <a:spcAft>
                <a:spcPts val="0"/>
              </a:spcAft>
              <a:buClr>
                <a:schemeClr val="dk1"/>
              </a:buClr>
              <a:buSzPts val="1100"/>
              <a:buFont typeface="Arial"/>
              <a:buNone/>
            </a:pPr>
            <a:r>
              <a:rPr lang="en-US" sz="1800">
                <a:latin typeface="Times New Roman"/>
                <a:ea typeface="Times New Roman"/>
                <a:cs typeface="Times New Roman"/>
                <a:sym typeface="Times New Roman"/>
              </a:rPr>
              <a:t>[2]	Kais I. Abdul-lateef, A Low cost single-axis sun tracking system using PIC microcontroller, Diyala Journal of Engineering Sciences, Vol. 05, No. 01, pp.65-78, June 2020.</a:t>
            </a:r>
            <a:endParaRPr sz="1800">
              <a:latin typeface="Times New Roman"/>
              <a:ea typeface="Times New Roman"/>
              <a:cs typeface="Times New Roman"/>
              <a:sym typeface="Times New Roman"/>
            </a:endParaRPr>
          </a:p>
          <a:p>
            <a:pPr indent="0" lvl="0" marL="0" rtl="0" algn="just">
              <a:lnSpc>
                <a:spcPct val="115000"/>
              </a:lnSpc>
              <a:spcBef>
                <a:spcPts val="1560"/>
              </a:spcBef>
              <a:spcAft>
                <a:spcPts val="0"/>
              </a:spcAft>
              <a:buNone/>
            </a:pPr>
            <a:r>
              <a:rPr lang="en-US" sz="1800">
                <a:latin typeface="Times New Roman"/>
                <a:ea typeface="Times New Roman"/>
                <a:cs typeface="Times New Roman"/>
                <a:sym typeface="Times New Roman"/>
              </a:rPr>
              <a:t>[3]	Design and Implementation of a Sun Tracker with a Dual-Axis Single Motor “Jing-Min Wang and Chia-Liang Lu’’,2020.</a:t>
            </a:r>
            <a:endParaRPr sz="1800">
              <a:latin typeface="Times New Roman"/>
              <a:ea typeface="Times New Roman"/>
              <a:cs typeface="Times New Roman"/>
              <a:sym typeface="Times New Roman"/>
            </a:endParaRPr>
          </a:p>
          <a:p>
            <a:pPr indent="0" lvl="0" marL="0" rtl="0" algn="just">
              <a:lnSpc>
                <a:spcPct val="115000"/>
              </a:lnSpc>
              <a:spcBef>
                <a:spcPts val="0"/>
              </a:spcBef>
              <a:spcAft>
                <a:spcPts val="0"/>
              </a:spcAft>
              <a:buNone/>
            </a:pPr>
            <a:r>
              <a:t/>
            </a:r>
            <a:endParaRPr sz="1800">
              <a:latin typeface="Times New Roman"/>
              <a:ea typeface="Times New Roman"/>
              <a:cs typeface="Times New Roman"/>
              <a:sym typeface="Times New Roman"/>
            </a:endParaRPr>
          </a:p>
          <a:p>
            <a:pPr indent="0" lvl="0" marL="0" rtl="0" algn="just">
              <a:lnSpc>
                <a:spcPct val="115000"/>
              </a:lnSpc>
              <a:spcBef>
                <a:spcPts val="0"/>
              </a:spcBef>
              <a:spcAft>
                <a:spcPts val="0"/>
              </a:spcAft>
              <a:buClr>
                <a:schemeClr val="dk1"/>
              </a:buClr>
              <a:buSzPts val="1100"/>
              <a:buFont typeface="Arial"/>
              <a:buNone/>
            </a:pPr>
            <a:r>
              <a:rPr lang="en-US" sz="1800">
                <a:latin typeface="Times New Roman"/>
                <a:ea typeface="Times New Roman"/>
                <a:cs typeface="Times New Roman"/>
                <a:sym typeface="Times New Roman"/>
              </a:rPr>
              <a:t>[4]       Khan, Rafid Adnan, Rezwanul Mahmood. M, and Anisul Haque. "Enhanced energy extraction in an open loop single-axis solar tracking PV system with optimized tracker rotation about tilted axis." Journal of Renewable and Sustainable Energy 10, no. 4 (2018).</a:t>
            </a:r>
            <a:endParaRPr sz="1800">
              <a:latin typeface="Times New Roman"/>
              <a:ea typeface="Times New Roman"/>
              <a:cs typeface="Times New Roman"/>
              <a:sym typeface="Times New Roman"/>
            </a:endParaRPr>
          </a:p>
          <a:p>
            <a:pPr indent="0" lvl="0" marL="0" rtl="0" algn="just">
              <a:lnSpc>
                <a:spcPct val="115000"/>
              </a:lnSpc>
              <a:spcBef>
                <a:spcPts val="0"/>
              </a:spcBef>
              <a:spcAft>
                <a:spcPts val="0"/>
              </a:spcAft>
              <a:buClr>
                <a:schemeClr val="dk1"/>
              </a:buClr>
              <a:buSzPts val="1100"/>
              <a:buFont typeface="Arial"/>
              <a:buNone/>
            </a:pPr>
            <a:r>
              <a:t/>
            </a:r>
            <a:endParaRPr sz="1800">
              <a:latin typeface="Times New Roman"/>
              <a:ea typeface="Times New Roman"/>
              <a:cs typeface="Times New Roman"/>
              <a:sym typeface="Times New Roman"/>
            </a:endParaRPr>
          </a:p>
          <a:p>
            <a:pPr indent="0" lvl="0" marL="0" rtl="0" algn="just">
              <a:lnSpc>
                <a:spcPct val="115000"/>
              </a:lnSpc>
              <a:spcBef>
                <a:spcPts val="0"/>
              </a:spcBef>
              <a:spcAft>
                <a:spcPts val="1200"/>
              </a:spcAft>
              <a:buClr>
                <a:schemeClr val="dk1"/>
              </a:buClr>
              <a:buSzPts val="1100"/>
              <a:buFont typeface="Arial"/>
              <a:buNone/>
            </a:pPr>
            <a:r>
              <a:rPr lang="en-US" sz="1800">
                <a:latin typeface="Times New Roman"/>
                <a:ea typeface="Times New Roman"/>
                <a:cs typeface="Times New Roman"/>
                <a:sym typeface="Times New Roman"/>
              </a:rPr>
              <a:t>[5]	Fernández-Ahumada, L. M, Ramírez-Faz. J, López-Luque. R, M. VaroMartínez, Moreno-García. I. M., and Casares de la Torre. F. "A novel backtracking approach for two-axis solar PV tracking plants." Renewable Energy 145 (2020).</a:t>
            </a:r>
            <a:endParaRPr sz="1800">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6"/>
          <p:cNvSpPr/>
          <p:nvPr/>
        </p:nvSpPr>
        <p:spPr>
          <a:xfrm>
            <a:off x="1844222" y="2321000"/>
            <a:ext cx="6983100" cy="1569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600"/>
              <a:buFont typeface="Arial"/>
              <a:buNone/>
            </a:pPr>
            <a:r>
              <a:rPr lang="en-US" sz="9600">
                <a:solidFill>
                  <a:schemeClr val="dk1"/>
                </a:solidFill>
                <a:latin typeface="Calibri"/>
                <a:ea typeface="Calibri"/>
                <a:cs typeface="Calibri"/>
                <a:sym typeface="Calibri"/>
              </a:rPr>
              <a:t>  </a:t>
            </a:r>
            <a:r>
              <a:rPr b="0" i="0" lang="en-US" sz="9600" u="none" cap="none" strike="noStrike">
                <a:solidFill>
                  <a:schemeClr val="dk1"/>
                </a:solidFill>
                <a:latin typeface="Calibri"/>
                <a:ea typeface="Calibri"/>
                <a:cs typeface="Calibri"/>
                <a:sym typeface="Calibri"/>
              </a:rPr>
              <a:t>Thank You</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KB VIMAL</dc:creator>
</cp:coreProperties>
</file>